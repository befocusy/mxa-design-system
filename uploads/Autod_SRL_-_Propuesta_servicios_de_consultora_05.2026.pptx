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3" r:id="rId7"/>
    <p:sldId id="264" r:id="rId8"/>
    <p:sldId id="265" r:id="rId9"/>
    <p:sldId id="266" r:id="rId10"/>
    <p:sldId id="267" r:id="rId11"/>
  </p:sldIdLst>
  <p:sldSz cx="7556500" cy="10693400"/>
  <p:notesSz cx="6858000" cy="9144000"/>
  <p:embeddedFontLst>
    <p:embeddedFont>
      <p:font typeface="Roboto" panose="02000000000000000000" pitchFamily="2" charset="0"/>
      <p:regular r:id="rId12"/>
      <p:bold r:id="rId13"/>
      <p:italic r:id="rId14"/>
      <p:boldItalic r:id="rId15"/>
    </p:embeddedFont>
    <p:embeddedFont>
      <p:font typeface="Roboto Bold" panose="02000000000000000000" charset="0"/>
      <p:regular r:id="rId16"/>
      <p:bold r:id="rId17"/>
    </p:embeddedFont>
    <p:embeddedFont>
      <p:font typeface="Ubuntu Bold" panose="020B0604020202020204"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0" d="100"/>
          <a:sy n="100" d="100"/>
        </p:scale>
        <p:origin x="1373" y="-10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C11"/>
        </a:solidFill>
        <a:effectLst/>
      </p:bgPr>
    </p:bg>
    <p:spTree>
      <p:nvGrpSpPr>
        <p:cNvPr id="1" name=""/>
        <p:cNvGrpSpPr/>
        <p:nvPr/>
      </p:nvGrpSpPr>
      <p:grpSpPr>
        <a:xfrm>
          <a:off x="0" y="0"/>
          <a:ext cx="0" cy="0"/>
          <a:chOff x="0" y="0"/>
          <a:chExt cx="0" cy="0"/>
        </a:xfrm>
      </p:grpSpPr>
      <p:grpSp>
        <p:nvGrpSpPr>
          <p:cNvPr id="2" name="Group 2"/>
          <p:cNvGrpSpPr/>
          <p:nvPr/>
        </p:nvGrpSpPr>
        <p:grpSpPr>
          <a:xfrm>
            <a:off x="0" y="10278452"/>
            <a:ext cx="7560000" cy="413548"/>
            <a:chOff x="0" y="0"/>
            <a:chExt cx="8576120" cy="469132"/>
          </a:xfrm>
        </p:grpSpPr>
        <p:sp>
          <p:nvSpPr>
            <p:cNvPr id="3" name="Freeform 3"/>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4" name="TextBox 4"/>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sp>
        <p:nvSpPr>
          <p:cNvPr id="5" name="Freeform 5"/>
          <p:cNvSpPr/>
          <p:nvPr/>
        </p:nvSpPr>
        <p:spPr>
          <a:xfrm>
            <a:off x="336628" y="3502392"/>
            <a:ext cx="3961325" cy="1843608"/>
          </a:xfrm>
          <a:custGeom>
            <a:avLst/>
            <a:gdLst/>
            <a:ahLst/>
            <a:cxnLst/>
            <a:rect l="l" t="t" r="r" b="b"/>
            <a:pathLst>
              <a:path w="3961325" h="1843608">
                <a:moveTo>
                  <a:pt x="0" y="0"/>
                </a:moveTo>
                <a:lnTo>
                  <a:pt x="3961325" y="0"/>
                </a:lnTo>
                <a:lnTo>
                  <a:pt x="3961325" y="1843608"/>
                </a:lnTo>
                <a:lnTo>
                  <a:pt x="0" y="1843608"/>
                </a:lnTo>
                <a:lnTo>
                  <a:pt x="0" y="0"/>
                </a:lnTo>
                <a:close/>
              </a:path>
            </a:pathLst>
          </a:custGeom>
          <a:blipFill>
            <a:blip r:embed="rId2"/>
            <a:stretch>
              <a:fillRect/>
            </a:stretch>
          </a:blipFill>
        </p:spPr>
        <p:txBody>
          <a:bodyPr/>
          <a:lstStyle/>
          <a:p>
            <a:endParaRPr lang="es-419" noProof="0" dirty="0"/>
          </a:p>
        </p:txBody>
      </p:sp>
      <p:sp>
        <p:nvSpPr>
          <p:cNvPr id="6" name="TextBox 6"/>
          <p:cNvSpPr txBox="1"/>
          <p:nvPr/>
        </p:nvSpPr>
        <p:spPr>
          <a:xfrm>
            <a:off x="450397" y="6166054"/>
            <a:ext cx="4938773" cy="1434888"/>
          </a:xfrm>
          <a:prstGeom prst="rect">
            <a:avLst/>
          </a:prstGeom>
        </p:spPr>
        <p:txBody>
          <a:bodyPr lIns="0" tIns="0" rIns="0" bIns="0" rtlCol="0" anchor="t">
            <a:spAutoFit/>
          </a:bodyPr>
          <a:lstStyle/>
          <a:p>
            <a:pPr algn="l">
              <a:lnSpc>
                <a:spcPts val="5476"/>
              </a:lnSpc>
            </a:pPr>
            <a:r>
              <a:rPr lang="es-419" sz="5166" b="1" noProof="0" dirty="0">
                <a:solidFill>
                  <a:srgbClr val="F3F0E2"/>
                </a:solidFill>
                <a:latin typeface="Ubuntu Bold"/>
                <a:ea typeface="Ubuntu Bold"/>
                <a:cs typeface="Ubuntu Bold"/>
                <a:sym typeface="Ubuntu Bold"/>
              </a:rPr>
              <a:t>Propuesta </a:t>
            </a:r>
          </a:p>
          <a:p>
            <a:pPr marL="0" lvl="0" indent="0" algn="l">
              <a:lnSpc>
                <a:spcPts val="5476"/>
              </a:lnSpc>
            </a:pPr>
            <a:r>
              <a:rPr lang="es-419" sz="5166" b="1" noProof="0" dirty="0">
                <a:solidFill>
                  <a:srgbClr val="F3F0E2"/>
                </a:solidFill>
                <a:latin typeface="Ubuntu Bold"/>
                <a:ea typeface="Ubuntu Bold"/>
                <a:cs typeface="Ubuntu Bold"/>
                <a:sym typeface="Ubuntu Bold"/>
              </a:rPr>
              <a:t>de servicios </a:t>
            </a:r>
          </a:p>
        </p:txBody>
      </p:sp>
      <p:sp>
        <p:nvSpPr>
          <p:cNvPr id="7" name="TextBox 7"/>
          <p:cNvSpPr txBox="1"/>
          <p:nvPr/>
        </p:nvSpPr>
        <p:spPr>
          <a:xfrm>
            <a:off x="543789" y="7881125"/>
            <a:ext cx="1849784" cy="262251"/>
          </a:xfrm>
          <a:prstGeom prst="rect">
            <a:avLst/>
          </a:prstGeom>
        </p:spPr>
        <p:txBody>
          <a:bodyPr lIns="0" tIns="0" rIns="0" bIns="0" rtlCol="0" anchor="t">
            <a:spAutoFit/>
          </a:bodyPr>
          <a:lstStyle/>
          <a:p>
            <a:pPr marL="0" lvl="0" indent="0" algn="l">
              <a:lnSpc>
                <a:spcPts val="2213"/>
              </a:lnSpc>
              <a:spcBef>
                <a:spcPct val="0"/>
              </a:spcBef>
            </a:pPr>
            <a:r>
              <a:rPr lang="es-419" sz="1580" b="1" noProof="0" dirty="0">
                <a:solidFill>
                  <a:srgbClr val="F3F0E2"/>
                </a:solidFill>
                <a:latin typeface="Roboto Bold"/>
                <a:ea typeface="Roboto Bold"/>
                <a:cs typeface="Roboto Bold"/>
                <a:sym typeface="Roboto Bold"/>
              </a:rPr>
              <a:t>Mayo 2026</a:t>
            </a:r>
          </a:p>
        </p:txBody>
      </p:sp>
      <p:sp>
        <p:nvSpPr>
          <p:cNvPr id="8" name="TextBox 8"/>
          <p:cNvSpPr txBox="1"/>
          <p:nvPr/>
        </p:nvSpPr>
        <p:spPr>
          <a:xfrm>
            <a:off x="362278" y="10395606"/>
            <a:ext cx="1139728" cy="166826"/>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9" name="TextBox 9"/>
          <p:cNvSpPr txBox="1"/>
          <p:nvPr/>
        </p:nvSpPr>
        <p:spPr>
          <a:xfrm>
            <a:off x="3091548" y="10421983"/>
            <a:ext cx="1609773" cy="14226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0" name="TextBox 10"/>
          <p:cNvSpPr txBox="1"/>
          <p:nvPr/>
        </p:nvSpPr>
        <p:spPr>
          <a:xfrm>
            <a:off x="5976829" y="10420171"/>
            <a:ext cx="1259290" cy="14226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1" name="TextBox 11"/>
          <p:cNvSpPr txBox="1"/>
          <p:nvPr/>
        </p:nvSpPr>
        <p:spPr>
          <a:xfrm>
            <a:off x="4872192" y="10420171"/>
            <a:ext cx="1033957" cy="14226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2" name="TextBox 12"/>
          <p:cNvSpPr txBox="1"/>
          <p:nvPr/>
        </p:nvSpPr>
        <p:spPr>
          <a:xfrm>
            <a:off x="1672877" y="10420171"/>
            <a:ext cx="1131324" cy="144073"/>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sp>
        <p:nvSpPr>
          <p:cNvPr id="3" name="TextBox 3"/>
          <p:cNvSpPr txBox="1"/>
          <p:nvPr/>
        </p:nvSpPr>
        <p:spPr>
          <a:xfrm>
            <a:off x="720000" y="1519051"/>
            <a:ext cx="6334850" cy="596253"/>
          </a:xfrm>
          <a:prstGeom prst="rect">
            <a:avLst/>
          </a:prstGeom>
        </p:spPr>
        <p:txBody>
          <a:bodyPr wrap="square" lIns="0" tIns="0" rIns="0" bIns="0" rtlCol="0" anchor="t">
            <a:spAutoFit/>
          </a:bodyPr>
          <a:lstStyle/>
          <a:p>
            <a:pPr algn="l">
              <a:lnSpc>
                <a:spcPts val="1601"/>
              </a:lnSpc>
            </a:pPr>
            <a:r>
              <a:rPr lang="es-419" sz="1232" b="1" noProof="0" dirty="0">
                <a:solidFill>
                  <a:srgbClr val="000000"/>
                </a:solidFill>
                <a:latin typeface="Ubuntu Bold"/>
                <a:ea typeface="Ubuntu Bold"/>
                <a:cs typeface="Ubuntu Bold"/>
                <a:sym typeface="Ubuntu Bold"/>
              </a:rPr>
              <a:t>Para: Autodata S.R.L.</a:t>
            </a:r>
          </a:p>
          <a:p>
            <a:pPr algn="l">
              <a:lnSpc>
                <a:spcPts val="1601"/>
              </a:lnSpc>
            </a:pPr>
            <a:r>
              <a:rPr lang="es-419" sz="1232" b="1" noProof="0" dirty="0">
                <a:solidFill>
                  <a:srgbClr val="000000"/>
                </a:solidFill>
                <a:latin typeface="Ubuntu Bold"/>
                <a:ea typeface="Ubuntu Bold"/>
                <a:cs typeface="Ubuntu Bold"/>
                <a:sym typeface="Ubuntu Bold"/>
              </a:rPr>
              <a:t>Ref.: Servicios de consultoría.</a:t>
            </a:r>
          </a:p>
          <a:p>
            <a:pPr algn="l">
              <a:lnSpc>
                <a:spcPts val="1601"/>
              </a:lnSpc>
            </a:pPr>
            <a:endParaRPr lang="es-419" sz="1232" b="1" noProof="0" dirty="0">
              <a:solidFill>
                <a:srgbClr val="000000"/>
              </a:solidFill>
              <a:latin typeface="Ubuntu Bold"/>
              <a:ea typeface="Ubuntu Bold"/>
              <a:cs typeface="Ubuntu Bold"/>
              <a:sym typeface="Ubuntu Bold"/>
            </a:endParaRPr>
          </a:p>
        </p:txBody>
      </p:sp>
      <p:sp>
        <p:nvSpPr>
          <p:cNvPr id="4" name="TextBox 4"/>
          <p:cNvSpPr txBox="1"/>
          <p:nvPr/>
        </p:nvSpPr>
        <p:spPr>
          <a:xfrm>
            <a:off x="720000" y="8157536"/>
            <a:ext cx="2961476" cy="736473"/>
          </a:xfrm>
          <a:prstGeom prst="rect">
            <a:avLst/>
          </a:prstGeom>
        </p:spPr>
        <p:txBody>
          <a:bodyPr lIns="0" tIns="0" rIns="0" bIns="0" rtlCol="0" anchor="t">
            <a:spAutoFit/>
          </a:bodyPr>
          <a:lstStyle/>
          <a:p>
            <a:pPr algn="l">
              <a:lnSpc>
                <a:spcPts val="2016"/>
              </a:lnSpc>
            </a:pPr>
            <a:r>
              <a:rPr lang="es-419" sz="1200" b="1" noProof="0" dirty="0">
                <a:solidFill>
                  <a:srgbClr val="000000"/>
                </a:solidFill>
                <a:latin typeface="Ubuntu Bold"/>
                <a:ea typeface="Ubuntu Bold"/>
                <a:cs typeface="Ubuntu Bold"/>
                <a:sym typeface="Ubuntu Bold"/>
              </a:rPr>
              <a:t>Por el Cliente:</a:t>
            </a:r>
          </a:p>
          <a:p>
            <a:pPr algn="l">
              <a:lnSpc>
                <a:spcPts val="2016"/>
              </a:lnSpc>
            </a:pPr>
            <a:endParaRPr lang="es-419" sz="1200" b="1" noProof="0" dirty="0">
              <a:solidFill>
                <a:srgbClr val="000000"/>
              </a:solidFill>
              <a:latin typeface="Ubuntu Bold"/>
              <a:ea typeface="Ubuntu Bold"/>
              <a:cs typeface="Ubuntu Bold"/>
              <a:sym typeface="Ubuntu Bold"/>
            </a:endParaRPr>
          </a:p>
          <a:p>
            <a:pPr algn="l">
              <a:lnSpc>
                <a:spcPts val="2016"/>
              </a:lnSpc>
            </a:pPr>
            <a:r>
              <a:rPr lang="es-419" sz="1200" b="1" noProof="0" dirty="0">
                <a:solidFill>
                  <a:srgbClr val="000000"/>
                </a:solidFill>
                <a:latin typeface="Ubuntu Bold"/>
                <a:ea typeface="Ubuntu Bold"/>
                <a:cs typeface="Ubuntu Bold"/>
                <a:sym typeface="Ubuntu Bold"/>
              </a:rPr>
              <a:t>Aclaración:</a:t>
            </a:r>
          </a:p>
        </p:txBody>
      </p:sp>
      <p:sp>
        <p:nvSpPr>
          <p:cNvPr id="5" name="TextBox 5"/>
          <p:cNvSpPr txBox="1"/>
          <p:nvPr/>
        </p:nvSpPr>
        <p:spPr>
          <a:xfrm>
            <a:off x="720000" y="2505975"/>
            <a:ext cx="6120000" cy="5216172"/>
          </a:xfrm>
          <a:prstGeom prst="rect">
            <a:avLst/>
          </a:prstGeom>
        </p:spPr>
        <p:txBody>
          <a:bodyPr lIns="0" tIns="0" rIns="0" bIns="0" rtlCol="0" anchor="t">
            <a:spAutoFit/>
          </a:bodyPr>
          <a:lstStyle/>
          <a:p>
            <a:pPr algn="just">
              <a:lnSpc>
                <a:spcPts val="1679"/>
              </a:lnSpc>
            </a:pPr>
            <a:r>
              <a:rPr lang="es-419" sz="1200" noProof="0" dirty="0">
                <a:solidFill>
                  <a:srgbClr val="000000"/>
                </a:solidFill>
                <a:latin typeface="Roboto"/>
                <a:ea typeface="Roboto"/>
                <a:cs typeface="Roboto"/>
                <a:sym typeface="Roboto"/>
              </a:rPr>
              <a:t>Estimados, </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De acuerdo con lo convenido, tenemos el agrado de dirigirnos a usted a efectos de hacerle llegar la presente propuesta de servicios profesionales.</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MXA agradece la confianza depositada en nuestro equipo, y espera que la presente propuesta de servicios merezca su aprobación.</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Quedamos a vuestra disposición para cualquier aclaración o información que consideren necesaria.</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Saluda a usted muy atentamente,</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Nicolás May</a:t>
            </a:r>
          </a:p>
          <a:p>
            <a:pPr algn="just">
              <a:lnSpc>
                <a:spcPts val="1679"/>
              </a:lnSpc>
            </a:pPr>
            <a:r>
              <a:rPr lang="es-419" sz="1200" noProof="0" dirty="0">
                <a:solidFill>
                  <a:srgbClr val="000000"/>
                </a:solidFill>
                <a:latin typeface="Roboto"/>
                <a:ea typeface="Roboto"/>
                <a:cs typeface="Roboto"/>
                <a:sym typeface="Roboto"/>
              </a:rPr>
              <a:t>(nmay@mxa.com.uy)</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Aceptando los términos establecidos precedentemente y en el Anexo “Términos y Condiciones" adjunto (que forma parte integrante de la propuesta que nos enviaran) y como constancia de conformidad, se suscribe la presente</a:t>
            </a:r>
          </a:p>
          <a:p>
            <a:pPr algn="just">
              <a:lnSpc>
                <a:spcPts val="1679"/>
              </a:lnSpc>
            </a:pPr>
            <a:r>
              <a:rPr lang="es-419" sz="1200" noProof="0" dirty="0">
                <a:solidFill>
                  <a:srgbClr val="000000"/>
                </a:solidFill>
                <a:latin typeface="Roboto"/>
                <a:ea typeface="Roboto"/>
                <a:cs typeface="Roboto"/>
                <a:sym typeface="Roboto"/>
              </a:rPr>
              <a:t>a los_____ días del mes de marzo de 2026.</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endParaRPr lang="es-419" sz="1200" noProof="0" dirty="0">
              <a:solidFill>
                <a:srgbClr val="000000"/>
              </a:solidFill>
              <a:latin typeface="Roboto"/>
              <a:ea typeface="Roboto"/>
              <a:cs typeface="Roboto"/>
              <a:sym typeface="Roboto"/>
            </a:endParaRPr>
          </a:p>
        </p:txBody>
      </p:sp>
      <p:grpSp>
        <p:nvGrpSpPr>
          <p:cNvPr id="6" name="Group 6"/>
          <p:cNvGrpSpPr/>
          <p:nvPr/>
        </p:nvGrpSpPr>
        <p:grpSpPr>
          <a:xfrm>
            <a:off x="0" y="10278452"/>
            <a:ext cx="7560000" cy="413548"/>
            <a:chOff x="0" y="0"/>
            <a:chExt cx="8576120" cy="469132"/>
          </a:xfrm>
        </p:grpSpPr>
        <p:sp>
          <p:nvSpPr>
            <p:cNvPr id="7" name="Freeform 7"/>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8" name="TextBox 8"/>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grpSp>
        <p:nvGrpSpPr>
          <p:cNvPr id="9" name="Group 9"/>
          <p:cNvGrpSpPr/>
          <p:nvPr/>
        </p:nvGrpSpPr>
        <p:grpSpPr>
          <a:xfrm>
            <a:off x="362278" y="10402750"/>
            <a:ext cx="6873841" cy="167610"/>
            <a:chOff x="0" y="-28575"/>
            <a:chExt cx="9165122" cy="223481"/>
          </a:xfrm>
        </p:grpSpPr>
        <p:sp>
          <p:nvSpPr>
            <p:cNvPr id="10" name="TextBox 10"/>
            <p:cNvSpPr txBox="1"/>
            <p:nvPr/>
          </p:nvSpPr>
          <p:spPr>
            <a:xfrm>
              <a:off x="0" y="-28575"/>
              <a:ext cx="1315624"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11" name="TextBox 11"/>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2" name="TextBox 12"/>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3" name="TextBox 13"/>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4" name="TextBox 14"/>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grpSp>
        <p:nvGrpSpPr>
          <p:cNvPr id="3" name="Group 3"/>
          <p:cNvGrpSpPr/>
          <p:nvPr/>
        </p:nvGrpSpPr>
        <p:grpSpPr>
          <a:xfrm>
            <a:off x="0" y="10278452"/>
            <a:ext cx="7560000" cy="413548"/>
            <a:chOff x="0" y="0"/>
            <a:chExt cx="8576120" cy="469132"/>
          </a:xfrm>
        </p:grpSpPr>
        <p:sp>
          <p:nvSpPr>
            <p:cNvPr id="4" name="Freeform 4"/>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5" name="TextBox 5"/>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sp>
        <p:nvSpPr>
          <p:cNvPr id="6" name="TextBox 6"/>
          <p:cNvSpPr txBox="1"/>
          <p:nvPr/>
        </p:nvSpPr>
        <p:spPr>
          <a:xfrm>
            <a:off x="720000" y="1450833"/>
            <a:ext cx="2350508"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ANTECEDENTES</a:t>
            </a:r>
          </a:p>
        </p:txBody>
      </p:sp>
      <p:sp>
        <p:nvSpPr>
          <p:cNvPr id="7" name="TextBox 7"/>
          <p:cNvSpPr txBox="1"/>
          <p:nvPr/>
        </p:nvSpPr>
        <p:spPr>
          <a:xfrm>
            <a:off x="720000" y="2119192"/>
            <a:ext cx="6120000" cy="3472104"/>
          </a:xfrm>
          <a:prstGeom prst="rect">
            <a:avLst/>
          </a:prstGeom>
        </p:spPr>
        <p:txBody>
          <a:bodyPr lIns="0" tIns="0" rIns="0" bIns="0" rtlCol="0" anchor="t">
            <a:spAutoFit/>
          </a:bodyPr>
          <a:lstStyle/>
          <a:p>
            <a:pPr algn="just">
              <a:lnSpc>
                <a:spcPts val="1679"/>
              </a:lnSpc>
            </a:pPr>
            <a:r>
              <a:rPr lang="es-419" sz="1200" noProof="0" dirty="0">
                <a:solidFill>
                  <a:srgbClr val="000000"/>
                </a:solidFill>
                <a:latin typeface="Roboto"/>
                <a:ea typeface="Roboto"/>
                <a:cs typeface="Roboto"/>
                <a:sym typeface="Roboto"/>
              </a:rPr>
              <a:t>Autodata S.R.L. es una empresa de servicios dedicada al asesoramiento integral del sector </a:t>
            </a:r>
            <a:r>
              <a:rPr lang="es-419" sz="1200" noProof="0" dirty="0" err="1">
                <a:solidFill>
                  <a:srgbClr val="000000"/>
                </a:solidFill>
                <a:latin typeface="Roboto"/>
                <a:ea typeface="Roboto"/>
                <a:cs typeface="Roboto"/>
                <a:sym typeface="Roboto"/>
              </a:rPr>
              <a:t>automotriz.Puntualmente</a:t>
            </a:r>
            <a:r>
              <a:rPr lang="es-419" sz="1200" noProof="0" dirty="0">
                <a:solidFill>
                  <a:srgbClr val="000000"/>
                </a:solidFill>
                <a:latin typeface="Roboto"/>
                <a:ea typeface="Roboto"/>
                <a:cs typeface="Roboto"/>
                <a:sym typeface="Roboto"/>
              </a:rPr>
              <a:t>, obtiene rentas por los siguientes conceptos:</a:t>
            </a:r>
          </a:p>
          <a:p>
            <a:pPr algn="just">
              <a:lnSpc>
                <a:spcPts val="1679"/>
              </a:lnSpc>
            </a:pPr>
            <a:endParaRPr lang="es-419" sz="1200" dirty="0">
              <a:solidFill>
                <a:srgbClr val="000000"/>
              </a:solidFill>
              <a:latin typeface="Roboto"/>
              <a:ea typeface="Roboto"/>
              <a:cs typeface="Roboto"/>
              <a:sym typeface="Roboto"/>
            </a:endParaRPr>
          </a:p>
          <a:p>
            <a:pPr marL="171450" indent="-171450" algn="just">
              <a:lnSpc>
                <a:spcPts val="1679"/>
              </a:lnSpc>
              <a:buFont typeface="Arial" panose="020B0604020202020204" pitchFamily="34" charset="0"/>
              <a:buChar char="•"/>
            </a:pPr>
            <a:r>
              <a:rPr lang="es-419" sz="1200" noProof="0" dirty="0">
                <a:solidFill>
                  <a:srgbClr val="000000"/>
                </a:solidFill>
                <a:latin typeface="Roboto"/>
                <a:ea typeface="Roboto"/>
                <a:cs typeface="Roboto"/>
                <a:sym typeface="Roboto"/>
              </a:rPr>
              <a:t>Acceso a su plataforma de suministro y análisis de información de vehículos.</a:t>
            </a:r>
          </a:p>
          <a:p>
            <a:pPr marL="171450" indent="-171450" algn="just">
              <a:lnSpc>
                <a:spcPts val="1679"/>
              </a:lnSpc>
              <a:buFont typeface="Arial" panose="020B0604020202020204" pitchFamily="34" charset="0"/>
              <a:buChar char="•"/>
            </a:pPr>
            <a:endParaRPr lang="es-419" sz="1200" dirty="0">
              <a:solidFill>
                <a:srgbClr val="000000"/>
              </a:solidFill>
              <a:latin typeface="Roboto"/>
              <a:ea typeface="Roboto"/>
              <a:cs typeface="Roboto"/>
              <a:sym typeface="Roboto"/>
            </a:endParaRPr>
          </a:p>
          <a:p>
            <a:pPr marL="171450" indent="-171450" algn="just">
              <a:lnSpc>
                <a:spcPts val="1679"/>
              </a:lnSpc>
              <a:buFont typeface="Arial" panose="020B0604020202020204" pitchFamily="34" charset="0"/>
              <a:buChar char="•"/>
            </a:pPr>
            <a:r>
              <a:rPr lang="es-419" sz="1200" noProof="0" dirty="0">
                <a:solidFill>
                  <a:srgbClr val="000000"/>
                </a:solidFill>
                <a:latin typeface="Roboto"/>
                <a:ea typeface="Roboto"/>
                <a:cs typeface="Roboto"/>
                <a:sym typeface="Roboto"/>
              </a:rPr>
              <a:t>Pericias de valores venales de vehículos.</a:t>
            </a:r>
          </a:p>
          <a:p>
            <a:pPr marL="171450" indent="-171450" algn="just">
              <a:lnSpc>
                <a:spcPts val="1679"/>
              </a:lnSpc>
              <a:buFont typeface="Arial" panose="020B0604020202020204" pitchFamily="34" charset="0"/>
              <a:buChar char="•"/>
            </a:pPr>
            <a:endParaRPr lang="es-419" sz="1200" dirty="0">
              <a:solidFill>
                <a:srgbClr val="000000"/>
              </a:solidFill>
              <a:latin typeface="Roboto"/>
              <a:ea typeface="Roboto"/>
              <a:cs typeface="Roboto"/>
              <a:sym typeface="Roboto"/>
            </a:endParaRPr>
          </a:p>
          <a:p>
            <a:pPr marL="171450" indent="-171450" algn="just">
              <a:lnSpc>
                <a:spcPts val="1679"/>
              </a:lnSpc>
              <a:buFont typeface="Arial" panose="020B0604020202020204" pitchFamily="34" charset="0"/>
              <a:buChar char="•"/>
            </a:pPr>
            <a:r>
              <a:rPr lang="es-419" sz="1200" noProof="0" dirty="0">
                <a:solidFill>
                  <a:srgbClr val="000000"/>
                </a:solidFill>
                <a:latin typeface="Roboto"/>
                <a:ea typeface="Roboto"/>
                <a:cs typeface="Roboto"/>
                <a:sym typeface="Roboto"/>
              </a:rPr>
              <a:t>Servicios de consultoría.</a:t>
            </a:r>
          </a:p>
          <a:p>
            <a:pPr marL="171450" indent="-171450" algn="just">
              <a:lnSpc>
                <a:spcPts val="1679"/>
              </a:lnSpc>
              <a:buFont typeface="Arial" panose="020B0604020202020204" pitchFamily="34" charset="0"/>
              <a:buChar char="•"/>
            </a:pPr>
            <a:endParaRPr lang="es-419" sz="120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La sociedad liquidó sus rentas por el régimen ficto hasta el ejercicio finalizado el 31 de diciembre de 2025 inclusive. En dicho ejercicio, superó el límite de 4.000.000 UI, quedando obligada a tributar sus rentas por el régimen real a partir del ejercicio 2026.</a:t>
            </a:r>
          </a:p>
          <a:p>
            <a:pPr algn="just">
              <a:lnSpc>
                <a:spcPts val="1679"/>
              </a:lnSpc>
            </a:pPr>
            <a:endParaRPr lang="es-419" sz="1200" dirty="0">
              <a:solidFill>
                <a:srgbClr val="000000"/>
              </a:solidFill>
              <a:latin typeface="Roboto"/>
              <a:ea typeface="Roboto"/>
              <a:cs typeface="Roboto"/>
              <a:sym typeface="Roboto"/>
            </a:endParaRPr>
          </a:p>
          <a:p>
            <a:pPr algn="just">
              <a:lnSpc>
                <a:spcPts val="1679"/>
              </a:lnSpc>
            </a:pPr>
            <a:r>
              <a:rPr lang="es-419" sz="1200" noProof="0" dirty="0">
                <a:solidFill>
                  <a:srgbClr val="000000"/>
                </a:solidFill>
                <a:latin typeface="Roboto"/>
                <a:ea typeface="Roboto"/>
                <a:cs typeface="Roboto"/>
                <a:sym typeface="Roboto"/>
              </a:rPr>
              <a:t>En ese contexto, MXA ha sido solicitado para brindar apoyo en la revisión de las liquidaciones de impuestos de la empresa, abarcando los aspectos que se detallarán en el capítulo de alcance.</a:t>
            </a:r>
          </a:p>
        </p:txBody>
      </p:sp>
      <p:grpSp>
        <p:nvGrpSpPr>
          <p:cNvPr id="8" name="Group 8"/>
          <p:cNvGrpSpPr/>
          <p:nvPr/>
        </p:nvGrpSpPr>
        <p:grpSpPr>
          <a:xfrm>
            <a:off x="362278" y="10402750"/>
            <a:ext cx="6873841" cy="167610"/>
            <a:chOff x="0" y="-28575"/>
            <a:chExt cx="9165122" cy="223481"/>
          </a:xfrm>
        </p:grpSpPr>
        <p:sp>
          <p:nvSpPr>
            <p:cNvPr id="9" name="TextBox 9"/>
            <p:cNvSpPr txBox="1"/>
            <p:nvPr/>
          </p:nvSpPr>
          <p:spPr>
            <a:xfrm>
              <a:off x="0" y="-28575"/>
              <a:ext cx="1315624"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10" name="TextBox 10"/>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1" name="TextBox 11"/>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2" name="TextBox 12"/>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3" name="TextBox 13"/>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20000" y="1367164"/>
            <a:ext cx="4213670"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ALCANCE DE LOS SERVICIOS</a:t>
            </a:r>
          </a:p>
        </p:txBody>
      </p:sp>
      <p:sp>
        <p:nvSpPr>
          <p:cNvPr id="4" name="Freeform 4"/>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grpSp>
        <p:nvGrpSpPr>
          <p:cNvPr id="5" name="Group 5"/>
          <p:cNvGrpSpPr/>
          <p:nvPr/>
        </p:nvGrpSpPr>
        <p:grpSpPr>
          <a:xfrm>
            <a:off x="0" y="10278452"/>
            <a:ext cx="7560000" cy="413548"/>
            <a:chOff x="0" y="0"/>
            <a:chExt cx="8576120" cy="469132"/>
          </a:xfrm>
        </p:grpSpPr>
        <p:sp>
          <p:nvSpPr>
            <p:cNvPr id="6" name="Freeform 6"/>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7" name="TextBox 7"/>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grpSp>
        <p:nvGrpSpPr>
          <p:cNvPr id="8" name="Group 8"/>
          <p:cNvGrpSpPr/>
          <p:nvPr/>
        </p:nvGrpSpPr>
        <p:grpSpPr>
          <a:xfrm>
            <a:off x="362278" y="10402750"/>
            <a:ext cx="6873841" cy="167610"/>
            <a:chOff x="0" y="-28575"/>
            <a:chExt cx="9165122" cy="223481"/>
          </a:xfrm>
        </p:grpSpPr>
        <p:sp>
          <p:nvSpPr>
            <p:cNvPr id="9" name="TextBox 9"/>
            <p:cNvSpPr txBox="1"/>
            <p:nvPr/>
          </p:nvSpPr>
          <p:spPr>
            <a:xfrm>
              <a:off x="0" y="-28575"/>
              <a:ext cx="1378609"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10" name="TextBox 10"/>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1" name="TextBox 11"/>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2" name="TextBox 12"/>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3" name="TextBox 13"/>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sp>
        <p:nvSpPr>
          <p:cNvPr id="14" name="TextBox 14"/>
          <p:cNvSpPr txBox="1"/>
          <p:nvPr/>
        </p:nvSpPr>
        <p:spPr>
          <a:xfrm>
            <a:off x="756000" y="2015326"/>
            <a:ext cx="5425484" cy="8288808"/>
          </a:xfrm>
          <a:prstGeom prst="rect">
            <a:avLst/>
          </a:prstGeom>
        </p:spPr>
        <p:txBody>
          <a:bodyPr lIns="0" tIns="0" rIns="0" bIns="0" rtlCol="0" anchor="t">
            <a:spAutoFit/>
          </a:bodyPr>
          <a:lstStyle/>
          <a:p>
            <a:pPr algn="l">
              <a:lnSpc>
                <a:spcPts val="1689"/>
              </a:lnSpc>
            </a:pPr>
            <a:r>
              <a:rPr lang="es-419" sz="1299" b="1" noProof="0" dirty="0">
                <a:solidFill>
                  <a:srgbClr val="000000"/>
                </a:solidFill>
                <a:latin typeface="Ubuntu Bold"/>
                <a:ea typeface="Ubuntu Bold"/>
                <a:cs typeface="Ubuntu Bold"/>
                <a:sym typeface="Ubuntu Bold"/>
              </a:rPr>
              <a:t>Servicios de consultoría:</a:t>
            </a:r>
          </a:p>
          <a:p>
            <a:pPr marL="342900" indent="-342900" algn="l">
              <a:lnSpc>
                <a:spcPts val="1689"/>
              </a:lnSpc>
              <a:buAutoNum type="alphaUcParenR"/>
            </a:pPr>
            <a:endParaRPr lang="es-419" sz="1299" b="1" noProof="0" dirty="0">
              <a:solidFill>
                <a:srgbClr val="000000"/>
              </a:solidFill>
              <a:latin typeface="Ubuntu Bold"/>
              <a:ea typeface="Ubuntu Bold"/>
              <a:cs typeface="Ubuntu Bold"/>
              <a:sym typeface="Ubuntu Bold"/>
            </a:endParaRPr>
          </a:p>
          <a:p>
            <a:pPr>
              <a:lnSpc>
                <a:spcPts val="1689"/>
              </a:lnSpc>
            </a:pPr>
            <a:r>
              <a:rPr lang="es-419" sz="1299" b="1" dirty="0">
                <a:solidFill>
                  <a:srgbClr val="000000"/>
                </a:solidFill>
                <a:latin typeface="Ubuntu Bold"/>
              </a:rPr>
              <a:t>Etapa 1: Diagnóstico de la situación actual de Autodata S.R.L. en materia de IRAE</a:t>
            </a:r>
          </a:p>
          <a:p>
            <a:endParaRPr lang="es-419" sz="1400" b="1" dirty="0"/>
          </a:p>
          <a:p>
            <a:r>
              <a:rPr lang="es-419" sz="1200" dirty="0">
                <a:latin typeface="Roboto" panose="02000000000000000000" pitchFamily="2" charset="0"/>
                <a:ea typeface="Roboto" panose="02000000000000000000" pitchFamily="2" charset="0"/>
                <a:cs typeface="Roboto" panose="02000000000000000000" pitchFamily="2" charset="0"/>
              </a:rPr>
              <a:t>Nuestro trabajo en esta etapa consistirá en el análisis de las últimas tres Declaraciones Juradas de Autodata S.R.L., así como de las distintas fuentes de ingresos de la sociedad, a efectos de emitir una opinión respecto de:</a:t>
            </a:r>
          </a:p>
          <a:p>
            <a:endParaRPr lang="es-419" sz="1200" dirty="0">
              <a:latin typeface="Roboto" panose="02000000000000000000" pitchFamily="2"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s-419" sz="1200" dirty="0">
                <a:latin typeface="Roboto" panose="02000000000000000000" pitchFamily="2" charset="0"/>
                <a:ea typeface="Roboto" panose="02000000000000000000" pitchFamily="2" charset="0"/>
                <a:cs typeface="Roboto" panose="02000000000000000000" pitchFamily="2" charset="0"/>
              </a:rPr>
              <a:t>La correcta clasificación de las rentas obtenidas por la sociedad, en función de la utilización de los factores económicos involucrados en su generación (capital, trabajo o combinación de ambos). </a:t>
            </a:r>
          </a:p>
          <a:p>
            <a:pPr marL="285750" indent="-285750">
              <a:buFont typeface="Arial" panose="020B0604020202020204" pitchFamily="34" charset="0"/>
              <a:buChar char="•"/>
            </a:pPr>
            <a:r>
              <a:rPr lang="es-419" sz="1200" dirty="0">
                <a:latin typeface="Roboto" panose="02000000000000000000" pitchFamily="2" charset="0"/>
                <a:ea typeface="Roboto" panose="02000000000000000000" pitchFamily="2" charset="0"/>
                <a:cs typeface="Roboto" panose="02000000000000000000" pitchFamily="2" charset="0"/>
              </a:rPr>
              <a:t>Las eventuales contingencias fiscales asociadas al criterio aplicado por la sociedad en relación con el punto anterior.</a:t>
            </a:r>
          </a:p>
          <a:p>
            <a:r>
              <a:rPr lang="es-419" sz="1200" dirty="0">
                <a:latin typeface="Roboto" panose="02000000000000000000" pitchFamily="2" charset="0"/>
                <a:ea typeface="Roboto" panose="02000000000000000000" pitchFamily="2" charset="0"/>
                <a:cs typeface="Roboto" panose="02000000000000000000" pitchFamily="2" charset="0"/>
              </a:rPr>
              <a:t> </a:t>
            </a:r>
          </a:p>
          <a:p>
            <a:pPr>
              <a:lnSpc>
                <a:spcPts val="1689"/>
              </a:lnSpc>
            </a:pPr>
            <a:r>
              <a:rPr lang="es-419" sz="1299" b="1" dirty="0">
                <a:solidFill>
                  <a:srgbClr val="000000"/>
                </a:solidFill>
                <a:latin typeface="Ubuntu Bold"/>
              </a:rPr>
              <a:t>Etapa 2: Revisión de alternativas fiscales a futuro para Autodata S.R.L.</a:t>
            </a:r>
          </a:p>
          <a:p>
            <a:endParaRPr lang="es-419" sz="1200" dirty="0">
              <a:latin typeface="Roboto" panose="02000000000000000000" pitchFamily="2" charset="0"/>
              <a:ea typeface="Roboto" panose="02000000000000000000" pitchFamily="2" charset="0"/>
              <a:cs typeface="Roboto" panose="02000000000000000000" pitchFamily="2" charset="0"/>
            </a:endParaRPr>
          </a:p>
          <a:p>
            <a:r>
              <a:rPr lang="es-419" sz="1200" dirty="0">
                <a:latin typeface="Roboto" panose="02000000000000000000" pitchFamily="2" charset="0"/>
                <a:ea typeface="Roboto" panose="02000000000000000000" pitchFamily="2" charset="0"/>
                <a:cs typeface="Roboto" panose="02000000000000000000" pitchFamily="2" charset="0"/>
              </a:rPr>
              <a:t>La segunda etapa de nuestro trabajo consistirá en analizar posibles alternativas de optimización de la carga tributaria de Autodata S.R.L. En particular, se revisarán los siguientes aspectos:</a:t>
            </a:r>
          </a:p>
          <a:p>
            <a:endParaRPr lang="es-419" sz="1200" dirty="0">
              <a:latin typeface="Roboto" panose="02000000000000000000" pitchFamily="2"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s-419" sz="1200" dirty="0">
                <a:latin typeface="Roboto" panose="02000000000000000000" pitchFamily="2" charset="0"/>
                <a:ea typeface="Roboto" panose="02000000000000000000" pitchFamily="2" charset="0"/>
                <a:cs typeface="Roboto" panose="02000000000000000000" pitchFamily="2" charset="0"/>
              </a:rPr>
              <a:t>Posibilidad de presentar un proyecto de inversión al amparo de la Ley N° 16.906. </a:t>
            </a:r>
          </a:p>
          <a:p>
            <a:pPr marL="171450" indent="-171450">
              <a:buFont typeface="Arial" panose="020B0604020202020204" pitchFamily="34" charset="0"/>
              <a:buChar char="•"/>
            </a:pPr>
            <a:r>
              <a:rPr lang="es-419" sz="1200" dirty="0">
                <a:latin typeface="Roboto" panose="02000000000000000000" pitchFamily="2" charset="0"/>
                <a:ea typeface="Roboto" panose="02000000000000000000" pitchFamily="2" charset="0"/>
                <a:cs typeface="Roboto" panose="02000000000000000000" pitchFamily="2" charset="0"/>
              </a:rPr>
              <a:t>Viabilidad de ampararse en el régimen preferencial de exoneración aplicable a la producción de software, previsto en el literal s) del artículo 66 del Título 4 del T.O. 2023. </a:t>
            </a:r>
          </a:p>
          <a:p>
            <a:pPr marL="171450" indent="-171450">
              <a:buFont typeface="Arial" panose="020B0604020202020204" pitchFamily="34" charset="0"/>
              <a:buChar char="•"/>
            </a:pPr>
            <a:r>
              <a:rPr lang="es-419" sz="1200" dirty="0">
                <a:latin typeface="Roboto" panose="02000000000000000000" pitchFamily="2" charset="0"/>
                <a:ea typeface="Roboto" panose="02000000000000000000" pitchFamily="2" charset="0"/>
                <a:cs typeface="Roboto" panose="02000000000000000000" pitchFamily="2" charset="0"/>
              </a:rPr>
              <a:t>Análisis de las rentas obtenidas por la sociedad, a efectos de determinar si alguna de ellas podría canalizarse a través de otra entidad y continuar tributando bajo el régimen ficto. </a:t>
            </a:r>
          </a:p>
          <a:p>
            <a:pPr marL="171450" indent="-171450">
              <a:buFont typeface="Arial" panose="020B0604020202020204" pitchFamily="34" charset="0"/>
              <a:buChar char="•"/>
            </a:pPr>
            <a:r>
              <a:rPr lang="es-419" sz="1200" dirty="0">
                <a:latin typeface="Roboto" panose="02000000000000000000" pitchFamily="2" charset="0"/>
                <a:ea typeface="Roboto" panose="02000000000000000000" pitchFamily="2" charset="0"/>
                <a:cs typeface="Roboto" panose="02000000000000000000" pitchFamily="2" charset="0"/>
              </a:rPr>
              <a:t>Análisis del impacto en el IRPF derivado de una eventual distribución de utilidades.</a:t>
            </a:r>
          </a:p>
          <a:p>
            <a:r>
              <a:rPr lang="es-419" sz="1200" dirty="0">
                <a:latin typeface="Roboto" panose="02000000000000000000" pitchFamily="2" charset="0"/>
                <a:ea typeface="Roboto" panose="02000000000000000000" pitchFamily="2" charset="0"/>
                <a:cs typeface="Roboto" panose="02000000000000000000" pitchFamily="2" charset="0"/>
              </a:rPr>
              <a:t> </a:t>
            </a:r>
          </a:p>
          <a:p>
            <a:pPr>
              <a:lnSpc>
                <a:spcPts val="1689"/>
              </a:lnSpc>
            </a:pPr>
            <a:r>
              <a:rPr lang="es-419" sz="1299" b="1" dirty="0">
                <a:solidFill>
                  <a:srgbClr val="000000"/>
                </a:solidFill>
                <a:latin typeface="Ubuntu Bold"/>
              </a:rPr>
              <a:t>Entregable</a:t>
            </a:r>
          </a:p>
          <a:p>
            <a:pPr>
              <a:lnSpc>
                <a:spcPts val="1689"/>
              </a:lnSpc>
            </a:pPr>
            <a:endParaRPr lang="es-419" sz="1299" b="1" dirty="0">
              <a:solidFill>
                <a:srgbClr val="000000"/>
              </a:solidFill>
              <a:latin typeface="Ubuntu Bold"/>
            </a:endParaRPr>
          </a:p>
          <a:p>
            <a:r>
              <a:rPr lang="es-419" sz="1200" dirty="0">
                <a:latin typeface="Roboto" panose="02000000000000000000" pitchFamily="2" charset="0"/>
                <a:ea typeface="Roboto" panose="02000000000000000000" pitchFamily="2" charset="0"/>
                <a:cs typeface="Roboto" panose="02000000000000000000" pitchFamily="2" charset="0"/>
              </a:rPr>
              <a:t>El producto final de nuestro trabajo consistirá en una presentación en formato PowerPoint que contendrá el análisis de los puntos incluidos en las etapas 1 y 2.</a:t>
            </a:r>
          </a:p>
          <a:p>
            <a:endParaRPr lang="es-419" sz="1200" dirty="0">
              <a:latin typeface="Roboto" panose="02000000000000000000" pitchFamily="2" charset="0"/>
              <a:ea typeface="Roboto" panose="02000000000000000000" pitchFamily="2" charset="0"/>
              <a:cs typeface="Roboto" panose="02000000000000000000" pitchFamily="2" charset="0"/>
            </a:endParaRPr>
          </a:p>
          <a:p>
            <a:r>
              <a:rPr lang="es-419" sz="1200" dirty="0">
                <a:latin typeface="Roboto" panose="02000000000000000000" pitchFamily="2" charset="0"/>
                <a:ea typeface="Roboto" panose="02000000000000000000" pitchFamily="2" charset="0"/>
                <a:cs typeface="Roboto" panose="02000000000000000000" pitchFamily="2" charset="0"/>
              </a:rPr>
              <a:t>Nuestro trabajo no incluirá la implementación de cualquiera de las alternativas que el Cliente decida adoptar en función de nuestras recomendaciones.</a:t>
            </a:r>
            <a:endParaRPr lang="es-419" sz="1200" b="1" noProof="0" dirty="0">
              <a:solidFill>
                <a:srgbClr val="000000"/>
              </a:solidFill>
              <a:latin typeface="Roboto" panose="02000000000000000000" pitchFamily="2" charset="0"/>
              <a:ea typeface="Roboto" panose="02000000000000000000" pitchFamily="2" charset="0"/>
              <a:cs typeface="Roboto" panose="02000000000000000000" pitchFamily="2" charset="0"/>
              <a:sym typeface="Ubuntu Bold"/>
            </a:endParaRPr>
          </a:p>
          <a:p>
            <a:pPr marL="342900" indent="-342900" algn="l">
              <a:lnSpc>
                <a:spcPts val="1689"/>
              </a:lnSpc>
              <a:buAutoNum type="alphaUcParenR"/>
            </a:pPr>
            <a:endParaRPr lang="es-419" sz="1200" b="1" noProof="0" dirty="0">
              <a:solidFill>
                <a:srgbClr val="000000"/>
              </a:solidFill>
              <a:latin typeface="Roboto" panose="02000000000000000000" pitchFamily="2" charset="0"/>
              <a:ea typeface="Roboto" panose="02000000000000000000" pitchFamily="2" charset="0"/>
              <a:cs typeface="Roboto" panose="02000000000000000000" pitchFamily="2" charset="0"/>
              <a:sym typeface="Ubuntu Bold"/>
            </a:endParaRPr>
          </a:p>
          <a:p>
            <a:pPr marL="342900" indent="-342900" algn="l">
              <a:lnSpc>
                <a:spcPts val="1689"/>
              </a:lnSpc>
              <a:buAutoNum type="alphaUcParenR"/>
            </a:pPr>
            <a:endParaRPr lang="es-419" sz="1200" b="1" noProof="0" dirty="0">
              <a:solidFill>
                <a:srgbClr val="000000"/>
              </a:solidFill>
              <a:latin typeface="Roboto" panose="02000000000000000000" pitchFamily="2" charset="0"/>
              <a:ea typeface="Roboto" panose="02000000000000000000" pitchFamily="2" charset="0"/>
              <a:cs typeface="Roboto" panose="02000000000000000000" pitchFamily="2" charset="0"/>
              <a:sym typeface="Ubuntu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20000" y="1399760"/>
            <a:ext cx="4213670"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ALCANCE DE LOS SERVICIOS</a:t>
            </a:r>
          </a:p>
        </p:txBody>
      </p:sp>
      <p:sp>
        <p:nvSpPr>
          <p:cNvPr id="3" name="Freeform 3"/>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grpSp>
        <p:nvGrpSpPr>
          <p:cNvPr id="4" name="Group 4"/>
          <p:cNvGrpSpPr/>
          <p:nvPr/>
        </p:nvGrpSpPr>
        <p:grpSpPr>
          <a:xfrm>
            <a:off x="0" y="10278452"/>
            <a:ext cx="7560000" cy="413548"/>
            <a:chOff x="0" y="0"/>
            <a:chExt cx="8576120" cy="469132"/>
          </a:xfrm>
        </p:grpSpPr>
        <p:sp>
          <p:nvSpPr>
            <p:cNvPr id="5" name="Freeform 5"/>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6" name="TextBox 6"/>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grpSp>
        <p:nvGrpSpPr>
          <p:cNvPr id="7" name="Group 7"/>
          <p:cNvGrpSpPr/>
          <p:nvPr/>
        </p:nvGrpSpPr>
        <p:grpSpPr>
          <a:xfrm>
            <a:off x="362278" y="10402750"/>
            <a:ext cx="6873841" cy="167610"/>
            <a:chOff x="0" y="-28575"/>
            <a:chExt cx="9165122" cy="223481"/>
          </a:xfrm>
        </p:grpSpPr>
        <p:sp>
          <p:nvSpPr>
            <p:cNvPr id="8" name="TextBox 8"/>
            <p:cNvSpPr txBox="1"/>
            <p:nvPr/>
          </p:nvSpPr>
          <p:spPr>
            <a:xfrm>
              <a:off x="0" y="-28575"/>
              <a:ext cx="1378609"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9" name="TextBox 9"/>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0" name="TextBox 10"/>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1" name="TextBox 11"/>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2" name="TextBox 12"/>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sp>
        <p:nvSpPr>
          <p:cNvPr id="13" name="TextBox 13"/>
          <p:cNvSpPr txBox="1"/>
          <p:nvPr/>
        </p:nvSpPr>
        <p:spPr>
          <a:xfrm>
            <a:off x="743992" y="1931558"/>
            <a:ext cx="5425484" cy="1074012"/>
          </a:xfrm>
          <a:prstGeom prst="rect">
            <a:avLst/>
          </a:prstGeom>
        </p:spPr>
        <p:txBody>
          <a:bodyPr lIns="0" tIns="0" rIns="0" bIns="0" rtlCol="0" anchor="t">
            <a:spAutoFit/>
          </a:bodyPr>
          <a:lstStyle/>
          <a:p>
            <a:pPr algn="just">
              <a:lnSpc>
                <a:spcPts val="1679"/>
              </a:lnSpc>
            </a:pPr>
            <a:r>
              <a:rPr lang="es-419" sz="1200" dirty="0">
                <a:solidFill>
                  <a:srgbClr val="000000"/>
                </a:solidFill>
                <a:latin typeface="Roboto"/>
                <a:ea typeface="Roboto"/>
                <a:cs typeface="Roboto"/>
                <a:sym typeface="Roboto"/>
              </a:rPr>
              <a:t>Todos aquellos servicios que no se encuentren expresamente detallados en la presente propuesta se considerarán excluidos de su alcance. Asimismo, el análisis se limitará al IRAE y al impacto en el IRPF asociado a una eventual distribución de utilidades, no incluyendo la evaluación de aspectos vinculados al Impuesto al Patrimonio.</a:t>
            </a:r>
          </a:p>
        </p:txBody>
      </p:sp>
      <p:sp>
        <p:nvSpPr>
          <p:cNvPr id="14" name="TextBox 14"/>
          <p:cNvSpPr txBox="1"/>
          <p:nvPr/>
        </p:nvSpPr>
        <p:spPr>
          <a:xfrm>
            <a:off x="705892" y="2319340"/>
            <a:ext cx="6120000" cy="419987"/>
          </a:xfrm>
          <a:prstGeom prst="rect">
            <a:avLst/>
          </a:prstGeom>
        </p:spPr>
        <p:txBody>
          <a:bodyPr lIns="0" tIns="0" rIns="0" bIns="0" rtlCol="0" anchor="t">
            <a:spAutoFit/>
          </a:bodyPr>
          <a:lstStyle/>
          <a:p>
            <a:pPr algn="just">
              <a:lnSpc>
                <a:spcPts val="1679"/>
              </a:lnSpc>
            </a:pPr>
            <a:endParaRPr lang="es-419" sz="1199" u="none" noProof="0" dirty="0">
              <a:solidFill>
                <a:srgbClr val="000000"/>
              </a:solidFill>
              <a:latin typeface="Roboto"/>
              <a:ea typeface="Roboto"/>
              <a:cs typeface="Roboto"/>
              <a:sym typeface="Roboto"/>
            </a:endParaRPr>
          </a:p>
          <a:p>
            <a:pPr algn="just">
              <a:lnSpc>
                <a:spcPts val="1679"/>
              </a:lnSpc>
            </a:pPr>
            <a:endParaRPr lang="es-419" sz="1199" u="none" noProof="0" dirty="0">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grpSp>
        <p:nvGrpSpPr>
          <p:cNvPr id="3" name="Group 3"/>
          <p:cNvGrpSpPr/>
          <p:nvPr/>
        </p:nvGrpSpPr>
        <p:grpSpPr>
          <a:xfrm>
            <a:off x="0" y="10278452"/>
            <a:ext cx="7560000" cy="413548"/>
            <a:chOff x="0" y="0"/>
            <a:chExt cx="8576120" cy="469132"/>
          </a:xfrm>
        </p:grpSpPr>
        <p:sp>
          <p:nvSpPr>
            <p:cNvPr id="4" name="Freeform 4"/>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5" name="TextBox 5"/>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sp>
        <p:nvSpPr>
          <p:cNvPr id="6" name="TextBox 6"/>
          <p:cNvSpPr txBox="1"/>
          <p:nvPr/>
        </p:nvSpPr>
        <p:spPr>
          <a:xfrm>
            <a:off x="720000" y="1397482"/>
            <a:ext cx="4213670"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HONORARIOS PROFESIONALES</a:t>
            </a:r>
          </a:p>
        </p:txBody>
      </p:sp>
      <p:sp>
        <p:nvSpPr>
          <p:cNvPr id="7" name="TextBox 7"/>
          <p:cNvSpPr txBox="1"/>
          <p:nvPr/>
        </p:nvSpPr>
        <p:spPr>
          <a:xfrm>
            <a:off x="725980" y="1974872"/>
            <a:ext cx="6120000" cy="417195"/>
          </a:xfrm>
          <a:prstGeom prst="rect">
            <a:avLst/>
          </a:prstGeom>
        </p:spPr>
        <p:txBody>
          <a:bodyPr lIns="0" tIns="0" rIns="0" bIns="0" rtlCol="0" anchor="t">
            <a:spAutoFit/>
          </a:bodyPr>
          <a:lstStyle/>
          <a:p>
            <a:pPr algn="just">
              <a:lnSpc>
                <a:spcPts val="1679"/>
              </a:lnSpc>
            </a:pPr>
            <a:r>
              <a:rPr lang="es-419" sz="1200" noProof="0" dirty="0">
                <a:solidFill>
                  <a:srgbClr val="000000"/>
                </a:solidFill>
                <a:latin typeface="Roboto"/>
                <a:ea typeface="Roboto"/>
                <a:cs typeface="Roboto"/>
                <a:sym typeface="Roboto"/>
              </a:rPr>
              <a:t>En base al alcance de los servicios descritos en el anterior apartado estimamos nuestros honorarios en dólares americanos (USD):</a:t>
            </a:r>
          </a:p>
        </p:txBody>
      </p:sp>
      <p:sp>
        <p:nvSpPr>
          <p:cNvPr id="8" name="TextBox 8"/>
          <p:cNvSpPr txBox="1"/>
          <p:nvPr/>
        </p:nvSpPr>
        <p:spPr>
          <a:xfrm>
            <a:off x="718250" y="4394572"/>
            <a:ext cx="6120000" cy="6524222"/>
          </a:xfrm>
          <a:prstGeom prst="rect">
            <a:avLst/>
          </a:prstGeom>
        </p:spPr>
        <p:txBody>
          <a:bodyPr lIns="0" tIns="0" rIns="0" bIns="0" rtlCol="0" anchor="t">
            <a:spAutoFit/>
          </a:bodyPr>
          <a:lstStyle/>
          <a:p>
            <a:pPr algn="just">
              <a:lnSpc>
                <a:spcPts val="1679"/>
              </a:lnSpc>
            </a:pPr>
            <a:r>
              <a:rPr lang="es-419" sz="1200" dirty="0">
                <a:solidFill>
                  <a:srgbClr val="000000"/>
                </a:solidFill>
                <a:latin typeface="Roboto"/>
                <a:ea typeface="Roboto"/>
                <a:cs typeface="Roboto"/>
                <a:sym typeface="Roboto"/>
              </a:rPr>
              <a:t>(*) En cuanto a los honorarios por la Optimización se debe tener en cuenta lo siguiente:</a:t>
            </a:r>
          </a:p>
          <a:p>
            <a:pPr algn="just">
              <a:lnSpc>
                <a:spcPts val="1679"/>
              </a:lnSpc>
            </a:pPr>
            <a:endParaRPr lang="es-419" sz="1200" dirty="0">
              <a:solidFill>
                <a:srgbClr val="000000"/>
              </a:solidFill>
              <a:latin typeface="Roboto"/>
              <a:ea typeface="Roboto"/>
              <a:cs typeface="Roboto"/>
              <a:sym typeface="Roboto"/>
            </a:endParaRPr>
          </a:p>
          <a:p>
            <a:pPr algn="just">
              <a:lnSpc>
                <a:spcPts val="1679"/>
              </a:lnSpc>
            </a:pPr>
            <a:r>
              <a:rPr lang="es-419" sz="1200" dirty="0">
                <a:solidFill>
                  <a:srgbClr val="000000"/>
                </a:solidFill>
                <a:latin typeface="Roboto"/>
                <a:ea typeface="Roboto"/>
                <a:cs typeface="Roboto"/>
                <a:sym typeface="Roboto"/>
              </a:rPr>
              <a:t>Las eficiencias podrán constituir un ahorro económico según se detalla a continuación:</a:t>
            </a:r>
          </a:p>
          <a:p>
            <a:pPr algn="just">
              <a:lnSpc>
                <a:spcPts val="1679"/>
              </a:lnSpc>
            </a:pPr>
            <a:r>
              <a:rPr lang="es-419" sz="1200" dirty="0">
                <a:solidFill>
                  <a:srgbClr val="000000"/>
                </a:solidFill>
                <a:latin typeface="Roboto"/>
                <a:ea typeface="Roboto"/>
                <a:cs typeface="Roboto"/>
                <a:sym typeface="Roboto"/>
              </a:rPr>
              <a:t>A tales efectos, se entiende por ahorro económico a las ideas de Optimización sugeridas, en tanto reúnan las siguientes condiciones: (i) las mismas sean capaces de devengar o generar beneficios, eficiencias o ahorros fiscales, (ii) las mismas sean susceptibles de implementación, y (</a:t>
            </a:r>
            <a:r>
              <a:rPr lang="es-419" sz="1200" dirty="0" err="1">
                <a:solidFill>
                  <a:srgbClr val="000000"/>
                </a:solidFill>
                <a:latin typeface="Roboto"/>
                <a:ea typeface="Roboto"/>
                <a:cs typeface="Roboto"/>
                <a:sym typeface="Roboto"/>
              </a:rPr>
              <a:t>iii</a:t>
            </a:r>
            <a:r>
              <a:rPr lang="es-419" sz="1200" dirty="0">
                <a:solidFill>
                  <a:srgbClr val="000000"/>
                </a:solidFill>
                <a:latin typeface="Roboto"/>
                <a:ea typeface="Roboto"/>
                <a:cs typeface="Roboto"/>
                <a:sym typeface="Roboto"/>
              </a:rPr>
              <a:t>) tal implementación no genere un riesgo de cuestionamiento cierto para Cliente por parte de las autoridades gubernamentales. </a:t>
            </a:r>
          </a:p>
          <a:p>
            <a:pPr algn="just">
              <a:lnSpc>
                <a:spcPts val="1679"/>
              </a:lnSpc>
            </a:pPr>
            <a:r>
              <a:rPr lang="es-419" sz="1200" dirty="0">
                <a:solidFill>
                  <a:srgbClr val="000000"/>
                </a:solidFill>
                <a:latin typeface="Roboto"/>
                <a:ea typeface="Roboto"/>
                <a:cs typeface="Roboto"/>
                <a:sym typeface="Roboto"/>
              </a:rPr>
              <a:t>Asimismo se aclara que:</a:t>
            </a:r>
          </a:p>
          <a:p>
            <a:pPr algn="just">
              <a:lnSpc>
                <a:spcPts val="1679"/>
              </a:lnSpc>
            </a:pPr>
            <a:r>
              <a:rPr lang="es-419" sz="1200" dirty="0">
                <a:solidFill>
                  <a:srgbClr val="000000"/>
                </a:solidFill>
                <a:latin typeface="Roboto"/>
                <a:ea typeface="Roboto"/>
                <a:cs typeface="Roboto"/>
                <a:sym typeface="Roboto"/>
              </a:rPr>
              <a:t>I.	el ahorro se determinará con carácter definitivo en oportunidad del vencimiento de las obligaciones fiscales del Cliente, y surgirá de la comparación del tributo final a ingresar luego de la aplicación de la recomendación de la Optimización contra el impuesto que se hubiera ingresado sin tener en cuenta dicha recomendación.</a:t>
            </a:r>
          </a:p>
          <a:p>
            <a:pPr marL="285750" indent="-285750" algn="just">
              <a:lnSpc>
                <a:spcPts val="1679"/>
              </a:lnSpc>
              <a:buAutoNum type="romanUcPeriod" startAt="2"/>
            </a:pPr>
            <a:r>
              <a:rPr lang="es-419" sz="1200" dirty="0">
                <a:solidFill>
                  <a:srgbClr val="000000"/>
                </a:solidFill>
                <a:latin typeface="Roboto"/>
                <a:ea typeface="Roboto"/>
                <a:cs typeface="Roboto"/>
                <a:sym typeface="Roboto"/>
              </a:rPr>
              <a:t>los honorarios se devengarán: </a:t>
            </a:r>
          </a:p>
          <a:p>
            <a:pPr algn="just">
              <a:lnSpc>
                <a:spcPts val="1679"/>
              </a:lnSpc>
            </a:pPr>
            <a:endParaRPr lang="es-419" sz="1200" dirty="0">
              <a:solidFill>
                <a:srgbClr val="000000"/>
              </a:solidFill>
              <a:latin typeface="Roboto"/>
              <a:ea typeface="Roboto"/>
              <a:cs typeface="Roboto"/>
              <a:sym typeface="Roboto"/>
            </a:endParaRPr>
          </a:p>
          <a:p>
            <a:pPr marL="228600" indent="-228600" algn="just">
              <a:lnSpc>
                <a:spcPts val="1679"/>
              </a:lnSpc>
              <a:buAutoNum type="alphaLcParenR"/>
            </a:pPr>
            <a:r>
              <a:rPr lang="es-419" sz="1200" dirty="0">
                <a:solidFill>
                  <a:srgbClr val="000000"/>
                </a:solidFill>
                <a:latin typeface="Roboto"/>
                <a:ea typeface="Roboto"/>
                <a:cs typeface="Roboto"/>
                <a:sym typeface="Roboto"/>
              </a:rPr>
              <a:t>Por un plazo máximo de 5 años a contar desde la fecha en que se inicia el ahorro efectivo. Por ejemplo: se generará por cada impuesto, salvo en aquellos casos en donde se trate de un impuesto que se devengue por única vez o para operaciones que se realicen por una única vez.</a:t>
            </a:r>
          </a:p>
          <a:p>
            <a:pPr algn="just">
              <a:lnSpc>
                <a:spcPts val="1679"/>
              </a:lnSpc>
            </a:pPr>
            <a:endParaRPr lang="es-419" sz="1200" dirty="0">
              <a:solidFill>
                <a:srgbClr val="000000"/>
              </a:solidFill>
              <a:latin typeface="Roboto"/>
              <a:ea typeface="Roboto"/>
              <a:cs typeface="Roboto"/>
              <a:sym typeface="Roboto"/>
            </a:endParaRPr>
          </a:p>
          <a:p>
            <a:pPr marL="228600" indent="-228600" algn="just">
              <a:lnSpc>
                <a:spcPts val="1679"/>
              </a:lnSpc>
              <a:buAutoNum type="alphaLcParenR" startAt="2"/>
            </a:pPr>
            <a:r>
              <a:rPr lang="es-419" sz="1200" dirty="0">
                <a:solidFill>
                  <a:srgbClr val="000000"/>
                </a:solidFill>
                <a:latin typeface="Roboto"/>
                <a:ea typeface="Roboto"/>
                <a:cs typeface="Roboto"/>
                <a:sym typeface="Roboto"/>
              </a:rPr>
              <a:t>Sólo en el caso en que el Cliente decida implementar una o más ideas de Optimización propuestas que generen un ahorro.</a:t>
            </a:r>
          </a:p>
          <a:p>
            <a:pPr algn="just">
              <a:lnSpc>
                <a:spcPts val="1679"/>
              </a:lnSpc>
            </a:pPr>
            <a:endParaRPr lang="es-419" sz="1200" dirty="0">
              <a:solidFill>
                <a:srgbClr val="000000"/>
              </a:solidFill>
              <a:latin typeface="Roboto"/>
              <a:ea typeface="Roboto"/>
              <a:cs typeface="Roboto"/>
              <a:sym typeface="Roboto"/>
            </a:endParaRPr>
          </a:p>
          <a:p>
            <a:pPr algn="just">
              <a:lnSpc>
                <a:spcPts val="1679"/>
              </a:lnSpc>
            </a:pPr>
            <a:r>
              <a:rPr lang="es-419" sz="1200" dirty="0">
                <a:solidFill>
                  <a:srgbClr val="000000"/>
                </a:solidFill>
                <a:latin typeface="Roboto"/>
                <a:ea typeface="Roboto"/>
                <a:cs typeface="Roboto"/>
                <a:sym typeface="Roboto"/>
              </a:rPr>
              <a:t>A efectos del correcto cálculo del honorario por el servicio de Optimización el Cliente se compromete a poner a disposición de MXA las Declaraciones Juradas de Impuestos presentadas en cada oportunidad en que sean requeridas por el MXA y toda aquella información que resulte necesaria para efectuar el análisis.</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endParaRPr lang="es-419" sz="1200" dirty="0">
              <a:solidFill>
                <a:srgbClr val="000000"/>
              </a:solidFill>
              <a:latin typeface="Roboto"/>
              <a:ea typeface="Roboto"/>
              <a:cs typeface="Roboto"/>
              <a:sym typeface="Roboto"/>
            </a:endParaRPr>
          </a:p>
          <a:p>
            <a:pPr algn="just">
              <a:lnSpc>
                <a:spcPts val="1679"/>
              </a:lnSpc>
            </a:pPr>
            <a:endParaRPr lang="es-419" sz="1200" noProof="0" dirty="0">
              <a:solidFill>
                <a:srgbClr val="000000"/>
              </a:solidFill>
              <a:latin typeface="Roboto"/>
              <a:ea typeface="Roboto"/>
              <a:cs typeface="Roboto"/>
              <a:sym typeface="Roboto"/>
            </a:endParaRPr>
          </a:p>
        </p:txBody>
      </p:sp>
      <p:grpSp>
        <p:nvGrpSpPr>
          <p:cNvPr id="9" name="Group 9"/>
          <p:cNvGrpSpPr/>
          <p:nvPr/>
        </p:nvGrpSpPr>
        <p:grpSpPr>
          <a:xfrm>
            <a:off x="362278" y="10402750"/>
            <a:ext cx="6873841" cy="167610"/>
            <a:chOff x="0" y="-28575"/>
            <a:chExt cx="9165122" cy="223481"/>
          </a:xfrm>
        </p:grpSpPr>
        <p:sp>
          <p:nvSpPr>
            <p:cNvPr id="10" name="TextBox 10"/>
            <p:cNvSpPr txBox="1"/>
            <p:nvPr/>
          </p:nvSpPr>
          <p:spPr>
            <a:xfrm>
              <a:off x="0" y="-28575"/>
              <a:ext cx="1378609"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11" name="TextBox 11"/>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2" name="TextBox 12"/>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3" name="TextBox 13"/>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4" name="TextBox 14"/>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grpSp>
        <p:nvGrpSpPr>
          <p:cNvPr id="15" name="Group 15"/>
          <p:cNvGrpSpPr/>
          <p:nvPr/>
        </p:nvGrpSpPr>
        <p:grpSpPr>
          <a:xfrm>
            <a:off x="865226" y="2592092"/>
            <a:ext cx="5703548" cy="385778"/>
            <a:chOff x="0" y="0"/>
            <a:chExt cx="2044023" cy="138254"/>
          </a:xfrm>
        </p:grpSpPr>
        <p:sp>
          <p:nvSpPr>
            <p:cNvPr id="16" name="Freeform 16"/>
            <p:cNvSpPr/>
            <p:nvPr/>
          </p:nvSpPr>
          <p:spPr>
            <a:xfrm>
              <a:off x="0" y="0"/>
              <a:ext cx="2044023" cy="138254"/>
            </a:xfrm>
            <a:custGeom>
              <a:avLst/>
              <a:gdLst/>
              <a:ahLst/>
              <a:cxnLst/>
              <a:rect l="l" t="t" r="r" b="b"/>
              <a:pathLst>
                <a:path w="2044023" h="138254">
                  <a:moveTo>
                    <a:pt x="0" y="0"/>
                  </a:moveTo>
                  <a:lnTo>
                    <a:pt x="2044023" y="0"/>
                  </a:lnTo>
                  <a:lnTo>
                    <a:pt x="2044023" y="138254"/>
                  </a:lnTo>
                  <a:lnTo>
                    <a:pt x="0" y="138254"/>
                  </a:lnTo>
                  <a:close/>
                </a:path>
              </a:pathLst>
            </a:custGeom>
            <a:solidFill>
              <a:srgbClr val="C9B8A7"/>
            </a:solidFill>
          </p:spPr>
          <p:txBody>
            <a:bodyPr/>
            <a:lstStyle/>
            <a:p>
              <a:endParaRPr lang="es-419" noProof="0" dirty="0"/>
            </a:p>
          </p:txBody>
        </p:sp>
        <p:sp>
          <p:nvSpPr>
            <p:cNvPr id="17" name="TextBox 17"/>
            <p:cNvSpPr txBox="1"/>
            <p:nvPr/>
          </p:nvSpPr>
          <p:spPr>
            <a:xfrm>
              <a:off x="0" y="-28575"/>
              <a:ext cx="2044023" cy="166829"/>
            </a:xfrm>
            <a:prstGeom prst="rect">
              <a:avLst/>
            </a:prstGeom>
          </p:spPr>
          <p:txBody>
            <a:bodyPr lIns="50800" tIns="50800" rIns="50800" bIns="50800" rtlCol="0" anchor="ctr"/>
            <a:lstStyle/>
            <a:p>
              <a:pPr algn="ctr">
                <a:lnSpc>
                  <a:spcPts val="1438"/>
                </a:lnSpc>
              </a:pPr>
              <a:endParaRPr lang="es-419" noProof="0" dirty="0"/>
            </a:p>
          </p:txBody>
        </p:sp>
      </p:grpSp>
      <p:grpSp>
        <p:nvGrpSpPr>
          <p:cNvPr id="18" name="Group 18"/>
          <p:cNvGrpSpPr/>
          <p:nvPr/>
        </p:nvGrpSpPr>
        <p:grpSpPr>
          <a:xfrm>
            <a:off x="865226" y="2973475"/>
            <a:ext cx="5703548" cy="632880"/>
            <a:chOff x="0" y="0"/>
            <a:chExt cx="2032954" cy="525318"/>
          </a:xfrm>
        </p:grpSpPr>
        <p:sp>
          <p:nvSpPr>
            <p:cNvPr id="19" name="Freeform 19"/>
            <p:cNvSpPr/>
            <p:nvPr/>
          </p:nvSpPr>
          <p:spPr>
            <a:xfrm>
              <a:off x="0" y="0"/>
              <a:ext cx="2032954" cy="525318"/>
            </a:xfrm>
            <a:custGeom>
              <a:avLst/>
              <a:gdLst/>
              <a:ahLst/>
              <a:cxnLst/>
              <a:rect l="l" t="t" r="r" b="b"/>
              <a:pathLst>
                <a:path w="2032954" h="525318">
                  <a:moveTo>
                    <a:pt x="0" y="0"/>
                  </a:moveTo>
                  <a:lnTo>
                    <a:pt x="2032954" y="0"/>
                  </a:lnTo>
                  <a:lnTo>
                    <a:pt x="2032954" y="525318"/>
                  </a:lnTo>
                  <a:lnTo>
                    <a:pt x="0" y="525318"/>
                  </a:lnTo>
                  <a:close/>
                </a:path>
              </a:pathLst>
            </a:custGeom>
            <a:solidFill>
              <a:srgbClr val="F3F0E2"/>
            </a:solidFill>
          </p:spPr>
          <p:txBody>
            <a:bodyPr/>
            <a:lstStyle/>
            <a:p>
              <a:endParaRPr lang="es-419" noProof="0" dirty="0"/>
            </a:p>
          </p:txBody>
        </p:sp>
        <p:sp>
          <p:nvSpPr>
            <p:cNvPr id="20" name="TextBox 20"/>
            <p:cNvSpPr txBox="1"/>
            <p:nvPr/>
          </p:nvSpPr>
          <p:spPr>
            <a:xfrm>
              <a:off x="0" y="-28575"/>
              <a:ext cx="2032954" cy="553893"/>
            </a:xfrm>
            <a:prstGeom prst="rect">
              <a:avLst/>
            </a:prstGeom>
          </p:spPr>
          <p:txBody>
            <a:bodyPr lIns="50800" tIns="50800" rIns="50800" bIns="50800" rtlCol="0" anchor="ctr"/>
            <a:lstStyle/>
            <a:p>
              <a:pPr algn="ctr">
                <a:lnSpc>
                  <a:spcPts val="1438"/>
                </a:lnSpc>
              </a:pPr>
              <a:endParaRPr lang="es-419" noProof="0" dirty="0"/>
            </a:p>
          </p:txBody>
        </p:sp>
      </p:grpSp>
      <p:sp>
        <p:nvSpPr>
          <p:cNvPr id="21" name="TextBox 21"/>
          <p:cNvSpPr txBox="1"/>
          <p:nvPr/>
        </p:nvSpPr>
        <p:spPr>
          <a:xfrm>
            <a:off x="1011459" y="2656198"/>
            <a:ext cx="1014191" cy="194310"/>
          </a:xfrm>
          <a:prstGeom prst="rect">
            <a:avLst/>
          </a:prstGeom>
        </p:spPr>
        <p:txBody>
          <a:bodyPr lIns="0" tIns="0" rIns="0" bIns="0" rtlCol="0" anchor="t">
            <a:spAutoFit/>
          </a:bodyPr>
          <a:lstStyle/>
          <a:p>
            <a:pPr algn="l">
              <a:lnSpc>
                <a:spcPts val="1560"/>
              </a:lnSpc>
            </a:pPr>
            <a:r>
              <a:rPr lang="es-419" sz="1200" b="1" noProof="0" dirty="0">
                <a:solidFill>
                  <a:srgbClr val="000000"/>
                </a:solidFill>
                <a:latin typeface="Roboto" panose="02000000000000000000" pitchFamily="2" charset="0"/>
                <a:ea typeface="Roboto" panose="02000000000000000000" pitchFamily="2" charset="0"/>
                <a:cs typeface="Roboto" panose="02000000000000000000" pitchFamily="2" charset="0"/>
                <a:sym typeface="Ubuntu Bold"/>
              </a:rPr>
              <a:t>CONCEPTO</a:t>
            </a:r>
          </a:p>
        </p:txBody>
      </p:sp>
      <p:sp>
        <p:nvSpPr>
          <p:cNvPr id="22" name="TextBox 22"/>
          <p:cNvSpPr txBox="1"/>
          <p:nvPr/>
        </p:nvSpPr>
        <p:spPr>
          <a:xfrm>
            <a:off x="4768850" y="2656198"/>
            <a:ext cx="1441366" cy="194310"/>
          </a:xfrm>
          <a:prstGeom prst="rect">
            <a:avLst/>
          </a:prstGeom>
        </p:spPr>
        <p:txBody>
          <a:bodyPr lIns="0" tIns="0" rIns="0" bIns="0" rtlCol="0" anchor="t">
            <a:spAutoFit/>
          </a:bodyPr>
          <a:lstStyle/>
          <a:p>
            <a:pPr algn="r">
              <a:lnSpc>
                <a:spcPts val="1560"/>
              </a:lnSpc>
            </a:pPr>
            <a:r>
              <a:rPr lang="es-419" sz="1200" b="1" noProof="0" dirty="0">
                <a:solidFill>
                  <a:srgbClr val="000000"/>
                </a:solidFill>
                <a:latin typeface="Roboto" panose="02000000000000000000" pitchFamily="2" charset="0"/>
                <a:ea typeface="Roboto" panose="02000000000000000000" pitchFamily="2" charset="0"/>
                <a:cs typeface="Roboto" panose="02000000000000000000" pitchFamily="2" charset="0"/>
                <a:sym typeface="Ubuntu Bold"/>
              </a:rPr>
              <a:t>Honorarios </a:t>
            </a:r>
          </a:p>
        </p:txBody>
      </p:sp>
      <p:sp>
        <p:nvSpPr>
          <p:cNvPr id="59" name="TextBox 59"/>
          <p:cNvSpPr txBox="1"/>
          <p:nvPr/>
        </p:nvSpPr>
        <p:spPr>
          <a:xfrm>
            <a:off x="958850" y="3165824"/>
            <a:ext cx="3814014" cy="182742"/>
          </a:xfrm>
          <a:prstGeom prst="rect">
            <a:avLst/>
          </a:prstGeom>
        </p:spPr>
        <p:txBody>
          <a:bodyPr wrap="square" lIns="0" tIns="0" rIns="0" bIns="0" rtlCol="0" anchor="t">
            <a:spAutoFit/>
          </a:bodyPr>
          <a:lstStyle/>
          <a:p>
            <a:pPr marL="171450" indent="-171450" algn="l">
              <a:lnSpc>
                <a:spcPts val="1510"/>
              </a:lnSpc>
              <a:buFont typeface="Arial" panose="020B0604020202020204" pitchFamily="34" charset="0"/>
              <a:buChar char="•"/>
            </a:pPr>
            <a:r>
              <a:rPr lang="es-419" sz="1200" b="1" noProof="0" dirty="0">
                <a:solidFill>
                  <a:srgbClr val="000000"/>
                </a:solidFill>
                <a:latin typeface="Roboto" panose="02000000000000000000" pitchFamily="2" charset="0"/>
                <a:ea typeface="Roboto" panose="02000000000000000000" pitchFamily="2" charset="0"/>
                <a:cs typeface="Roboto" panose="02000000000000000000" pitchFamily="2" charset="0"/>
                <a:sym typeface="Ubuntu Bold"/>
              </a:rPr>
              <a:t>Servicios de consultoría:</a:t>
            </a:r>
          </a:p>
        </p:txBody>
      </p:sp>
      <p:sp>
        <p:nvSpPr>
          <p:cNvPr id="61" name="TextBox 23">
            <a:extLst>
              <a:ext uri="{FF2B5EF4-FFF2-40B4-BE49-F238E27FC236}">
                <a16:creationId xmlns:a16="http://schemas.microsoft.com/office/drawing/2014/main" id="{FF40449F-A1C5-0B58-820F-BC18F9277E17}"/>
              </a:ext>
            </a:extLst>
          </p:cNvPr>
          <p:cNvSpPr txBox="1"/>
          <p:nvPr/>
        </p:nvSpPr>
        <p:spPr>
          <a:xfrm>
            <a:off x="4517349" y="3161221"/>
            <a:ext cx="1936187" cy="185051"/>
          </a:xfrm>
          <a:prstGeom prst="rect">
            <a:avLst/>
          </a:prstGeom>
        </p:spPr>
        <p:txBody>
          <a:bodyPr wrap="square" lIns="0" tIns="0" rIns="0" bIns="0" rtlCol="0" anchor="t">
            <a:spAutoFit/>
          </a:bodyPr>
          <a:lstStyle/>
          <a:p>
            <a:pPr algn="r">
              <a:lnSpc>
                <a:spcPts val="1560"/>
              </a:lnSpc>
            </a:pPr>
            <a:r>
              <a:rPr lang="es-419" sz="1200" b="1" noProof="0" dirty="0">
                <a:solidFill>
                  <a:srgbClr val="FF0000"/>
                </a:solidFill>
                <a:latin typeface="Ubuntu Bold"/>
                <a:ea typeface="Ubuntu Bold"/>
                <a:cs typeface="Ubuntu Bold"/>
                <a:sym typeface="Ubuntu Bold"/>
              </a:rPr>
              <a:t> </a:t>
            </a:r>
            <a:r>
              <a:rPr lang="es-419" sz="1200" b="1" noProof="0" dirty="0">
                <a:latin typeface="Ubuntu Bold"/>
                <a:ea typeface="Ubuntu Bold"/>
                <a:cs typeface="Ubuntu Bold"/>
                <a:sym typeface="Ubuntu Bold"/>
              </a:rPr>
              <a:t>USD 2.000 </a:t>
            </a:r>
            <a:r>
              <a:rPr lang="es-419" sz="1200" b="1" noProof="0" dirty="0">
                <a:solidFill>
                  <a:srgbClr val="000000"/>
                </a:solidFill>
                <a:latin typeface="Ubuntu Bold"/>
                <a:ea typeface="Ubuntu Bold"/>
                <a:cs typeface="Ubuntu Bold"/>
                <a:sym typeface="Ubuntu Bold"/>
              </a:rPr>
              <a:t>por única vez</a:t>
            </a:r>
          </a:p>
        </p:txBody>
      </p:sp>
      <p:grpSp>
        <p:nvGrpSpPr>
          <p:cNvPr id="24" name="Group 18">
            <a:extLst>
              <a:ext uri="{FF2B5EF4-FFF2-40B4-BE49-F238E27FC236}">
                <a16:creationId xmlns:a16="http://schemas.microsoft.com/office/drawing/2014/main" id="{49184CB5-AD89-F154-7494-EF20F79B0F9C}"/>
              </a:ext>
            </a:extLst>
          </p:cNvPr>
          <p:cNvGrpSpPr/>
          <p:nvPr/>
        </p:nvGrpSpPr>
        <p:grpSpPr>
          <a:xfrm>
            <a:off x="865226" y="3608164"/>
            <a:ext cx="5703548" cy="632880"/>
            <a:chOff x="0" y="0"/>
            <a:chExt cx="2032954" cy="525318"/>
          </a:xfrm>
        </p:grpSpPr>
        <p:sp>
          <p:nvSpPr>
            <p:cNvPr id="25" name="Freeform 19">
              <a:extLst>
                <a:ext uri="{FF2B5EF4-FFF2-40B4-BE49-F238E27FC236}">
                  <a16:creationId xmlns:a16="http://schemas.microsoft.com/office/drawing/2014/main" id="{26B81B57-BD0C-80DD-D63E-254B761F56A1}"/>
                </a:ext>
              </a:extLst>
            </p:cNvPr>
            <p:cNvSpPr/>
            <p:nvPr/>
          </p:nvSpPr>
          <p:spPr>
            <a:xfrm>
              <a:off x="0" y="0"/>
              <a:ext cx="2032954" cy="525318"/>
            </a:xfrm>
            <a:custGeom>
              <a:avLst/>
              <a:gdLst/>
              <a:ahLst/>
              <a:cxnLst/>
              <a:rect l="l" t="t" r="r" b="b"/>
              <a:pathLst>
                <a:path w="2032954" h="525318">
                  <a:moveTo>
                    <a:pt x="0" y="0"/>
                  </a:moveTo>
                  <a:lnTo>
                    <a:pt x="2032954" y="0"/>
                  </a:lnTo>
                  <a:lnTo>
                    <a:pt x="2032954" y="525318"/>
                  </a:lnTo>
                  <a:lnTo>
                    <a:pt x="0" y="525318"/>
                  </a:lnTo>
                  <a:close/>
                </a:path>
              </a:pathLst>
            </a:custGeom>
            <a:solidFill>
              <a:srgbClr val="F3F0E2"/>
            </a:solidFill>
          </p:spPr>
          <p:txBody>
            <a:bodyPr/>
            <a:lstStyle/>
            <a:p>
              <a:endParaRPr lang="es-419" noProof="0" dirty="0"/>
            </a:p>
          </p:txBody>
        </p:sp>
        <p:sp>
          <p:nvSpPr>
            <p:cNvPr id="26" name="TextBox 20">
              <a:extLst>
                <a:ext uri="{FF2B5EF4-FFF2-40B4-BE49-F238E27FC236}">
                  <a16:creationId xmlns:a16="http://schemas.microsoft.com/office/drawing/2014/main" id="{DD6D8569-617C-030F-EB71-62A032F058C6}"/>
                </a:ext>
              </a:extLst>
            </p:cNvPr>
            <p:cNvSpPr txBox="1"/>
            <p:nvPr/>
          </p:nvSpPr>
          <p:spPr>
            <a:xfrm>
              <a:off x="0" y="-28575"/>
              <a:ext cx="2032954" cy="553893"/>
            </a:xfrm>
            <a:prstGeom prst="rect">
              <a:avLst/>
            </a:prstGeom>
          </p:spPr>
          <p:txBody>
            <a:bodyPr lIns="50800" tIns="50800" rIns="50800" bIns="50800" rtlCol="0" anchor="ctr"/>
            <a:lstStyle/>
            <a:p>
              <a:pPr algn="ctr">
                <a:lnSpc>
                  <a:spcPts val="1438"/>
                </a:lnSpc>
              </a:pPr>
              <a:endParaRPr lang="es-419" noProof="0" dirty="0"/>
            </a:p>
          </p:txBody>
        </p:sp>
      </p:grpSp>
      <p:sp>
        <p:nvSpPr>
          <p:cNvPr id="30" name="TextBox 59">
            <a:extLst>
              <a:ext uri="{FF2B5EF4-FFF2-40B4-BE49-F238E27FC236}">
                <a16:creationId xmlns:a16="http://schemas.microsoft.com/office/drawing/2014/main" id="{527E472D-9858-8C50-3714-3FE2F60C31A3}"/>
              </a:ext>
            </a:extLst>
          </p:cNvPr>
          <p:cNvSpPr txBox="1"/>
          <p:nvPr/>
        </p:nvSpPr>
        <p:spPr>
          <a:xfrm>
            <a:off x="954836" y="3761692"/>
            <a:ext cx="3814014" cy="182742"/>
          </a:xfrm>
          <a:prstGeom prst="rect">
            <a:avLst/>
          </a:prstGeom>
        </p:spPr>
        <p:txBody>
          <a:bodyPr wrap="square" lIns="0" tIns="0" rIns="0" bIns="0" rtlCol="0" anchor="t">
            <a:spAutoFit/>
          </a:bodyPr>
          <a:lstStyle/>
          <a:p>
            <a:pPr marL="171450" indent="-171450" algn="l">
              <a:lnSpc>
                <a:spcPts val="1510"/>
              </a:lnSpc>
              <a:buFont typeface="Arial" panose="020B0604020202020204" pitchFamily="34" charset="0"/>
              <a:buChar char="•"/>
            </a:pPr>
            <a:r>
              <a:rPr lang="es-419" sz="1200" b="1" noProof="0" dirty="0">
                <a:solidFill>
                  <a:srgbClr val="000000"/>
                </a:solidFill>
                <a:latin typeface="Roboto" panose="02000000000000000000" pitchFamily="2" charset="0"/>
                <a:ea typeface="Roboto" panose="02000000000000000000" pitchFamily="2" charset="0"/>
                <a:cs typeface="Roboto" panose="02000000000000000000" pitchFamily="2" charset="0"/>
                <a:sym typeface="Ubuntu Bold"/>
              </a:rPr>
              <a:t>Optimización fiscal:</a:t>
            </a:r>
          </a:p>
        </p:txBody>
      </p:sp>
      <p:sp>
        <p:nvSpPr>
          <p:cNvPr id="31" name="TextBox 23">
            <a:extLst>
              <a:ext uri="{FF2B5EF4-FFF2-40B4-BE49-F238E27FC236}">
                <a16:creationId xmlns:a16="http://schemas.microsoft.com/office/drawing/2014/main" id="{6C3D5E91-EE28-7471-EDE4-29C906EB67FA}"/>
              </a:ext>
            </a:extLst>
          </p:cNvPr>
          <p:cNvSpPr txBox="1"/>
          <p:nvPr/>
        </p:nvSpPr>
        <p:spPr>
          <a:xfrm>
            <a:off x="4235451" y="3759383"/>
            <a:ext cx="2218086" cy="185051"/>
          </a:xfrm>
          <a:prstGeom prst="rect">
            <a:avLst/>
          </a:prstGeom>
        </p:spPr>
        <p:txBody>
          <a:bodyPr wrap="square" lIns="0" tIns="0" rIns="0" bIns="0" rtlCol="0" anchor="t">
            <a:spAutoFit/>
          </a:bodyPr>
          <a:lstStyle/>
          <a:p>
            <a:pPr algn="r">
              <a:lnSpc>
                <a:spcPts val="1560"/>
              </a:lnSpc>
            </a:pPr>
            <a:r>
              <a:rPr lang="es-419" sz="1200" b="1" noProof="0" dirty="0">
                <a:solidFill>
                  <a:srgbClr val="FF0000"/>
                </a:solidFill>
                <a:latin typeface="Ubuntu Bold"/>
                <a:ea typeface="Ubuntu Bold"/>
                <a:cs typeface="Ubuntu Bold"/>
                <a:sym typeface="Ubuntu Bold"/>
              </a:rPr>
              <a:t> </a:t>
            </a:r>
            <a:r>
              <a:rPr lang="es-419" sz="1200" b="1" noProof="0" dirty="0">
                <a:latin typeface="Ubuntu Bold"/>
                <a:ea typeface="Ubuntu Bold"/>
                <a:cs typeface="Ubuntu Bold"/>
                <a:sym typeface="Ubuntu Bold"/>
              </a:rPr>
              <a:t>10% de la eficiencia fiscal (*)</a:t>
            </a:r>
            <a:endParaRPr lang="es-419" sz="1200" b="1" noProof="0" dirty="0">
              <a:solidFill>
                <a:srgbClr val="000000"/>
              </a:solidFill>
              <a:latin typeface="Ubuntu Bold"/>
              <a:ea typeface="Ubuntu Bold"/>
              <a:cs typeface="Ubuntu Bold"/>
              <a:sym typeface="Ubuntu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grpSp>
        <p:nvGrpSpPr>
          <p:cNvPr id="3" name="Group 3"/>
          <p:cNvGrpSpPr/>
          <p:nvPr/>
        </p:nvGrpSpPr>
        <p:grpSpPr>
          <a:xfrm>
            <a:off x="0" y="10278452"/>
            <a:ext cx="7560000" cy="413548"/>
            <a:chOff x="0" y="0"/>
            <a:chExt cx="8576120" cy="469132"/>
          </a:xfrm>
        </p:grpSpPr>
        <p:sp>
          <p:nvSpPr>
            <p:cNvPr id="4" name="Freeform 4"/>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5" name="TextBox 5"/>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sp>
        <p:nvSpPr>
          <p:cNvPr id="6" name="TextBox 6"/>
          <p:cNvSpPr txBox="1"/>
          <p:nvPr/>
        </p:nvSpPr>
        <p:spPr>
          <a:xfrm>
            <a:off x="720000" y="1459112"/>
            <a:ext cx="4213670"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ANEXO</a:t>
            </a:r>
          </a:p>
        </p:txBody>
      </p:sp>
      <p:sp>
        <p:nvSpPr>
          <p:cNvPr id="7" name="TextBox 7"/>
          <p:cNvSpPr txBox="1"/>
          <p:nvPr/>
        </p:nvSpPr>
        <p:spPr>
          <a:xfrm>
            <a:off x="720000" y="2545853"/>
            <a:ext cx="6120000" cy="6494145"/>
          </a:xfrm>
          <a:prstGeom prst="rect">
            <a:avLst/>
          </a:prstGeom>
        </p:spPr>
        <p:txBody>
          <a:bodyPr lIns="0" tIns="0" rIns="0" bIns="0" rtlCol="0" anchor="t">
            <a:spAutoFit/>
          </a:bodyPr>
          <a:lstStyle/>
          <a:p>
            <a:pPr algn="just">
              <a:lnSpc>
                <a:spcPts val="1679"/>
              </a:lnSpc>
            </a:pPr>
            <a:r>
              <a:rPr lang="es-419" sz="1200" noProof="0" dirty="0">
                <a:solidFill>
                  <a:srgbClr val="000000"/>
                </a:solidFill>
                <a:latin typeface="Roboto"/>
                <a:ea typeface="Roboto"/>
                <a:cs typeface="Roboto"/>
                <a:sym typeface="Roboto"/>
              </a:rPr>
              <a:t>El presente anexo tiene por objeto precisar los términos, condiciones y responsabilidades aplicables a la prestación de nuestros servicios profesionales. Este anexo y la propuesta de servicios profesionales constituirán conjuntamente el contrato de servicios entre ustedes y nosotros. Estos términos se mantendrán en vigencia hasta que sean modificados por escrito, en conformidad con ambas partes.</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b="1" noProof="0" dirty="0">
                <a:solidFill>
                  <a:srgbClr val="000000"/>
                </a:solidFill>
                <a:latin typeface="Roboto Bold"/>
                <a:ea typeface="Roboto Bold"/>
                <a:cs typeface="Roboto Bold"/>
                <a:sym typeface="Roboto Bold"/>
              </a:rPr>
              <a:t>1)</a:t>
            </a:r>
            <a:r>
              <a:rPr lang="es-419" sz="1200" noProof="0" dirty="0">
                <a:solidFill>
                  <a:srgbClr val="000000"/>
                </a:solidFill>
                <a:latin typeface="Roboto"/>
                <a:ea typeface="Roboto"/>
                <a:cs typeface="Roboto"/>
                <a:sym typeface="Roboto"/>
              </a:rPr>
              <a:t> La responsabilidad de MXA se encontrará acotada al objeto de los servicios que desarrolle MXA con acuerdo del cliente, descritos en el capítulo de alcance de nuestros servicios de la presente propuesta.</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b="1" noProof="0" dirty="0">
                <a:solidFill>
                  <a:srgbClr val="000000"/>
                </a:solidFill>
                <a:latin typeface="Roboto Bold"/>
                <a:ea typeface="Roboto Bold"/>
                <a:cs typeface="Roboto Bold"/>
                <a:sym typeface="Roboto Bold"/>
              </a:rPr>
              <a:t>2)</a:t>
            </a:r>
            <a:r>
              <a:rPr lang="es-419" sz="1200" noProof="0" dirty="0">
                <a:solidFill>
                  <a:srgbClr val="000000"/>
                </a:solidFill>
                <a:latin typeface="Roboto"/>
                <a:ea typeface="Roboto"/>
                <a:cs typeface="Roboto"/>
                <a:sym typeface="Roboto"/>
              </a:rPr>
              <a:t> Los servicios prestados por MXA serán realizados siguiendo los criterios técnicos generalmente aplicados en el asesoramiento a nuestros clientes. No obstante, de tratarse de criterios que pudieran generar algún nivel de controversia con las autoridades públicas, pondremos en conocimiento de este hecho a la respectiva gerencia del cliente, señalando las observaciones que correspondieren. Las opiniones cursadas por MXA en el desarrollo de nuestros servicios se basarán en nuestro leal saber y entender, con relación a lo que entendemos una razonable interpretación de las normas respectivas en atención a las pautas aceptadas por el Derecho Positivo, la doctrina y/o la jurisprudencia, y, en tanto la materia que nos ocupa presente temas opinables, no podremos asegurar que la Administración o los Tribunales llamados a entender en un caso compartan íntegramente nuestras conclusiones y sugerencias. En aquellas situaciones respecto de las cuales sea de nuestro conocimiento que nuestra opinión sobre un tema específico no resulte coincidente con la de las autoridades competentes o existan opiniones doctrinarias contrarias a nuestro punto de vista, expondremos ambas opiniones así como sus fundamentos, exponiendo también –si los hubiere- los pronunciamientos jurisprudenciales al respecto, a fin de que la respectiva gerencia disponga de los elementos de juicio para que el cliente tome la mejor decisión a la luz de sus intereses. De acuerdo con lo expuesto, nuestros profesionales actuarán con el máximo deber de diligencia y probidad, pero ni ellos ni MXA asumen responsabilidad alguna por el eventual resultado adverso que derivara para el cliente de las decisiones que finalmente adopte, por cuanto nuestra labor importa una obligación de medios y no de resultados.</a:t>
            </a:r>
          </a:p>
        </p:txBody>
      </p:sp>
      <p:sp>
        <p:nvSpPr>
          <p:cNvPr id="8" name="TextBox 8"/>
          <p:cNvSpPr txBox="1"/>
          <p:nvPr/>
        </p:nvSpPr>
        <p:spPr>
          <a:xfrm>
            <a:off x="720000" y="2144650"/>
            <a:ext cx="5425484" cy="212090"/>
          </a:xfrm>
          <a:prstGeom prst="rect">
            <a:avLst/>
          </a:prstGeom>
        </p:spPr>
        <p:txBody>
          <a:bodyPr lIns="0" tIns="0" rIns="0" bIns="0" rtlCol="0" anchor="t">
            <a:spAutoFit/>
          </a:bodyPr>
          <a:lstStyle/>
          <a:p>
            <a:pPr algn="l">
              <a:lnSpc>
                <a:spcPts val="1689"/>
              </a:lnSpc>
            </a:pPr>
            <a:r>
              <a:rPr lang="es-419" sz="1299" b="1" noProof="0" dirty="0">
                <a:solidFill>
                  <a:srgbClr val="C9B8A7"/>
                </a:solidFill>
                <a:latin typeface="Ubuntu Bold"/>
                <a:ea typeface="Ubuntu Bold"/>
                <a:cs typeface="Ubuntu Bold"/>
                <a:sym typeface="Ubuntu Bold"/>
              </a:rPr>
              <a:t>Términos y condiciones</a:t>
            </a:r>
          </a:p>
        </p:txBody>
      </p:sp>
      <p:grpSp>
        <p:nvGrpSpPr>
          <p:cNvPr id="9" name="Group 9"/>
          <p:cNvGrpSpPr/>
          <p:nvPr/>
        </p:nvGrpSpPr>
        <p:grpSpPr>
          <a:xfrm>
            <a:off x="362278" y="10402750"/>
            <a:ext cx="6873841" cy="167610"/>
            <a:chOff x="0" y="-28575"/>
            <a:chExt cx="9165122" cy="223481"/>
          </a:xfrm>
        </p:grpSpPr>
        <p:sp>
          <p:nvSpPr>
            <p:cNvPr id="10" name="TextBox 10"/>
            <p:cNvSpPr txBox="1"/>
            <p:nvPr/>
          </p:nvSpPr>
          <p:spPr>
            <a:xfrm>
              <a:off x="0" y="-28575"/>
              <a:ext cx="1315624"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11" name="TextBox 11"/>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2" name="TextBox 12"/>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3" name="TextBox 13"/>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4" name="TextBox 14"/>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grpSp>
        <p:nvGrpSpPr>
          <p:cNvPr id="3" name="Group 3"/>
          <p:cNvGrpSpPr/>
          <p:nvPr/>
        </p:nvGrpSpPr>
        <p:grpSpPr>
          <a:xfrm>
            <a:off x="0" y="10278452"/>
            <a:ext cx="7560000" cy="413548"/>
            <a:chOff x="0" y="0"/>
            <a:chExt cx="8576120" cy="469132"/>
          </a:xfrm>
        </p:grpSpPr>
        <p:sp>
          <p:nvSpPr>
            <p:cNvPr id="4" name="Freeform 4"/>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5" name="TextBox 5"/>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sp>
        <p:nvSpPr>
          <p:cNvPr id="6" name="TextBox 6"/>
          <p:cNvSpPr txBox="1"/>
          <p:nvPr/>
        </p:nvSpPr>
        <p:spPr>
          <a:xfrm>
            <a:off x="720000" y="1446975"/>
            <a:ext cx="4213670"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ANEXO</a:t>
            </a:r>
          </a:p>
        </p:txBody>
      </p:sp>
      <p:sp>
        <p:nvSpPr>
          <p:cNvPr id="7" name="TextBox 7"/>
          <p:cNvSpPr txBox="1"/>
          <p:nvPr/>
        </p:nvSpPr>
        <p:spPr>
          <a:xfrm>
            <a:off x="720000" y="2864881"/>
            <a:ext cx="6120000" cy="5865495"/>
          </a:xfrm>
          <a:prstGeom prst="rect">
            <a:avLst/>
          </a:prstGeom>
        </p:spPr>
        <p:txBody>
          <a:bodyPr lIns="0" tIns="0" rIns="0" bIns="0" rtlCol="0" anchor="t">
            <a:spAutoFit/>
          </a:bodyPr>
          <a:lstStyle/>
          <a:p>
            <a:pPr algn="just">
              <a:lnSpc>
                <a:spcPts val="1679"/>
              </a:lnSpc>
            </a:pPr>
            <a:r>
              <a:rPr lang="es-419" sz="1200" b="1" noProof="0" dirty="0">
                <a:solidFill>
                  <a:srgbClr val="000000"/>
                </a:solidFill>
                <a:latin typeface="Roboto Bold"/>
                <a:ea typeface="Roboto Bold"/>
                <a:cs typeface="Roboto Bold"/>
                <a:sym typeface="Roboto Bold"/>
              </a:rPr>
              <a:t>3)</a:t>
            </a:r>
            <a:r>
              <a:rPr lang="es-419" sz="1200" noProof="0" dirty="0">
                <a:solidFill>
                  <a:srgbClr val="000000"/>
                </a:solidFill>
                <a:latin typeface="Roboto"/>
                <a:ea typeface="Roboto"/>
                <a:cs typeface="Roboto"/>
                <a:sym typeface="Roboto"/>
              </a:rPr>
              <a:t> Los servicios prestados por MXA se realizarán con base en las normas jurídicas, los pronunciamientos administrativos, las opiniones doctrinarias y los antecedentes jurisprudenciales vigentes o dictados en el momento de su conclusión. Cambios en las normas jurídicas actuales o en su aplicación por la Administración o los Tribunales pueden ocurrir antes que nuestro informe sea emitido en forma final, o más aún, sus efectos pueden ser retroactivos. No nos responsabilizamos por los cambios en las normas jurídicas o en las posiciones de la Administración o los Tribunales que puedan ocurrir después de terminados nuestros trabajos.</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b="1" noProof="0" dirty="0">
                <a:solidFill>
                  <a:srgbClr val="000000"/>
                </a:solidFill>
                <a:latin typeface="Roboto Bold"/>
                <a:ea typeface="Roboto Bold"/>
                <a:cs typeface="Roboto Bold"/>
                <a:sym typeface="Roboto Bold"/>
              </a:rPr>
              <a:t>4)</a:t>
            </a:r>
            <a:r>
              <a:rPr lang="es-419" sz="1200" noProof="0" dirty="0">
                <a:solidFill>
                  <a:srgbClr val="000000"/>
                </a:solidFill>
                <a:latin typeface="Roboto"/>
                <a:ea typeface="Roboto"/>
                <a:cs typeface="Roboto"/>
                <a:sym typeface="Roboto"/>
              </a:rPr>
              <a:t> La responsabilidad que asume MXA por la prestación de sus servicios al cliente no comprende las consecuencias derivadas de errores en la preparación de la información suministrada por el cliente, ni las provenientes de hechos que se encuentren fuera del conocimiento de los responsables de nuestro equipo. Será responsabilidad del cliente poner a nuestra disposición en forma y plazos oportunos la documentación y/o información requerida para la realización de nuestra tarea y que será oportunamente solicitada. Queda entendido que MXA no responderá por la veracidad y estado de actualización de la información que le sea suministrada a los fines de la realización de su tarea, como así tampoco por omisiones u ocultamientos en la entrega de documentación y medios probatorios en general por parte del cliente.</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b="1" noProof="0" dirty="0">
                <a:solidFill>
                  <a:srgbClr val="000000"/>
                </a:solidFill>
                <a:latin typeface="Roboto Bold"/>
                <a:ea typeface="Roboto Bold"/>
                <a:cs typeface="Roboto Bold"/>
                <a:sym typeface="Roboto Bold"/>
              </a:rPr>
              <a:t>5)</a:t>
            </a:r>
            <a:r>
              <a:rPr lang="es-419" sz="1200" noProof="0" dirty="0">
                <a:solidFill>
                  <a:srgbClr val="000000"/>
                </a:solidFill>
                <a:latin typeface="Roboto"/>
                <a:ea typeface="Roboto"/>
                <a:cs typeface="Roboto"/>
                <a:sym typeface="Roboto"/>
              </a:rPr>
              <a:t> MXA no ha sido contratada con el propósito de prestar actividades gerenciales o tomar decisiones en nombre de ustedes y no lo haremos. La prestación de nuestros servicios no tiene como objeto detectar fraudes, engaños o cualquier otro tipo de maniobra dolosa que pudieran generarse, a modo de ejemplo, por ventas no declaradas, compras o servicios inexistentes, etc. La labor a desarrollar por MXA no incluirá un examen detallado de las transacciones, como el que sería necesario realizar para revelar equivocaciones que causaron un error significativo en la falta de cumplimiento de las obligaciones del cliente.</a:t>
            </a:r>
          </a:p>
        </p:txBody>
      </p:sp>
      <p:sp>
        <p:nvSpPr>
          <p:cNvPr id="8" name="TextBox 8"/>
          <p:cNvSpPr txBox="1"/>
          <p:nvPr/>
        </p:nvSpPr>
        <p:spPr>
          <a:xfrm>
            <a:off x="720000" y="2137034"/>
            <a:ext cx="5425484" cy="212090"/>
          </a:xfrm>
          <a:prstGeom prst="rect">
            <a:avLst/>
          </a:prstGeom>
        </p:spPr>
        <p:txBody>
          <a:bodyPr lIns="0" tIns="0" rIns="0" bIns="0" rtlCol="0" anchor="t">
            <a:spAutoFit/>
          </a:bodyPr>
          <a:lstStyle/>
          <a:p>
            <a:pPr algn="l">
              <a:lnSpc>
                <a:spcPts val="1689"/>
              </a:lnSpc>
            </a:pPr>
            <a:r>
              <a:rPr lang="es-419" sz="1299" b="1" noProof="0" dirty="0">
                <a:solidFill>
                  <a:srgbClr val="C9B8A7"/>
                </a:solidFill>
                <a:latin typeface="Ubuntu Bold"/>
                <a:ea typeface="Ubuntu Bold"/>
                <a:cs typeface="Ubuntu Bold"/>
                <a:sym typeface="Ubuntu Bold"/>
              </a:rPr>
              <a:t>Términos y condiciones</a:t>
            </a:r>
          </a:p>
        </p:txBody>
      </p:sp>
      <p:grpSp>
        <p:nvGrpSpPr>
          <p:cNvPr id="9" name="Group 9"/>
          <p:cNvGrpSpPr/>
          <p:nvPr/>
        </p:nvGrpSpPr>
        <p:grpSpPr>
          <a:xfrm>
            <a:off x="362278" y="10402750"/>
            <a:ext cx="6873841" cy="167610"/>
            <a:chOff x="0" y="-28575"/>
            <a:chExt cx="9165122" cy="223481"/>
          </a:xfrm>
        </p:grpSpPr>
        <p:sp>
          <p:nvSpPr>
            <p:cNvPr id="10" name="TextBox 10"/>
            <p:cNvSpPr txBox="1"/>
            <p:nvPr/>
          </p:nvSpPr>
          <p:spPr>
            <a:xfrm>
              <a:off x="0" y="-28575"/>
              <a:ext cx="1378609"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11" name="TextBox 11"/>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2" name="TextBox 12"/>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3" name="TextBox 13"/>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4" name="TextBox 14"/>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grpSp>
        <p:nvGrpSpPr>
          <p:cNvPr id="3" name="Group 3"/>
          <p:cNvGrpSpPr/>
          <p:nvPr/>
        </p:nvGrpSpPr>
        <p:grpSpPr>
          <a:xfrm>
            <a:off x="0" y="10278452"/>
            <a:ext cx="7560000" cy="413548"/>
            <a:chOff x="0" y="0"/>
            <a:chExt cx="8576120" cy="469132"/>
          </a:xfrm>
        </p:grpSpPr>
        <p:sp>
          <p:nvSpPr>
            <p:cNvPr id="4" name="Freeform 4"/>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5" name="TextBox 5"/>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sp>
        <p:nvSpPr>
          <p:cNvPr id="6" name="TextBox 6"/>
          <p:cNvSpPr txBox="1"/>
          <p:nvPr/>
        </p:nvSpPr>
        <p:spPr>
          <a:xfrm>
            <a:off x="720000" y="1450833"/>
            <a:ext cx="4213670"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ANEXO</a:t>
            </a:r>
          </a:p>
        </p:txBody>
      </p:sp>
      <p:sp>
        <p:nvSpPr>
          <p:cNvPr id="7" name="TextBox 7"/>
          <p:cNvSpPr txBox="1"/>
          <p:nvPr/>
        </p:nvSpPr>
        <p:spPr>
          <a:xfrm>
            <a:off x="720000" y="3020605"/>
            <a:ext cx="6120000" cy="6284595"/>
          </a:xfrm>
          <a:prstGeom prst="rect">
            <a:avLst/>
          </a:prstGeom>
        </p:spPr>
        <p:txBody>
          <a:bodyPr lIns="0" tIns="0" rIns="0" bIns="0" rtlCol="0" anchor="t">
            <a:spAutoFit/>
          </a:bodyPr>
          <a:lstStyle/>
          <a:p>
            <a:pPr algn="just">
              <a:lnSpc>
                <a:spcPts val="1679"/>
              </a:lnSpc>
            </a:pPr>
            <a:r>
              <a:rPr lang="es-419" sz="1200" b="1" noProof="0" dirty="0">
                <a:solidFill>
                  <a:srgbClr val="000000"/>
                </a:solidFill>
                <a:latin typeface="Roboto Bold"/>
                <a:ea typeface="Roboto Bold"/>
                <a:cs typeface="Roboto Bold"/>
                <a:sym typeface="Roboto Bold"/>
              </a:rPr>
              <a:t>6)</a:t>
            </a:r>
            <a:r>
              <a:rPr lang="es-419" sz="1200" noProof="0" dirty="0">
                <a:solidFill>
                  <a:srgbClr val="000000"/>
                </a:solidFill>
                <a:latin typeface="Roboto"/>
                <a:ea typeface="Roboto"/>
                <a:cs typeface="Roboto"/>
                <a:sym typeface="Roboto"/>
              </a:rPr>
              <a:t> El contenido de informes, comentarios y cualquier otro material producto de nuestros servicios o que contenga opinión técnica de nuestra organización se destina exclusivamente al conocimiento de personal calificado del cliente. La divulgación del contenido de estos materiales a terceros deberá someterse a nuestra previa y expresa autorización, así como a la confirmación por escrito que los destinatarios entienden y concuerdan con el carácter, el alcance y la extensión de nuestros trabajos y no los utilizarán para fines distintos de la necesidad interna de los organismos superiores de la administración del cliente. El cliente hará sus mejores esfuerzos para obtener de terceros el reconocimiento que nuestro trabajo no fue originalmente dirigido a ellos y que, por lo tanto, concuerdan en mantener a MXA y a sus funcionarios libres y a salvo de cualquier reclamo, acción, queja, demanda judicial o extrajudicial que pueda intentarse, así como de cualquier responsabilidad, obligación, costo, gasto, pérdida, inclusive honorarios de abogados o cualquier otro valor a cualquier título, que puedan estar relacionados, directa o indirectamente, con el acceso al resultado del trabajo objeto de esta propuesta. Además, acepta mantener a MXA y a sus funcionarios libres y a salvo de cualquier reclamo, acción, queja, demanda judicial o extrajudicial que pueda intentarse, así como de cualquier responsabilidad, costo, gasto, pérdida, inclusive honorarios de abogados o cualquier otro valor a cualquier título, que puedan ser eventualmente cobrados por terceros que hayan tenido acceso al resultado del trabajo objeto de esta propuesta.</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b="1" noProof="0" dirty="0">
                <a:solidFill>
                  <a:srgbClr val="000000"/>
                </a:solidFill>
                <a:latin typeface="Roboto Bold"/>
                <a:ea typeface="Roboto Bold"/>
                <a:cs typeface="Roboto Bold"/>
                <a:sym typeface="Roboto Bold"/>
              </a:rPr>
              <a:t>7)</a:t>
            </a:r>
            <a:r>
              <a:rPr lang="es-419" sz="1200" noProof="0" dirty="0">
                <a:solidFill>
                  <a:srgbClr val="000000"/>
                </a:solidFill>
                <a:latin typeface="Roboto"/>
                <a:ea typeface="Roboto"/>
                <a:cs typeface="Roboto"/>
                <a:sym typeface="Roboto"/>
              </a:rPr>
              <a:t> El cliente reconoce que los papeles de trabajo y archivos creados por MXA en el curso de los servicios prestados, incluyendo los documentos y archivos electrónicos, son propiedad exclusiva de MXA. Durante la realización de nuestros trabajos, tal vez se nos solicite hacer comentarios verbales y/o a suministrar minutas de informes escritos, presentaciones, cartas, copias impresas (o en otro medio) de papeles de trabajo y planillas electrónicas. Considerando que esas informaciones y documentos representan trabajo en curso y no nuestro informe final, no asumimos ninguna responsabilidad con relación al carácter definitivo que pueda darse con relación a las informaciones preliminares. Los resultados del trabajo serán informados en la versión final de nuestra correspondencia.</a:t>
            </a:r>
          </a:p>
        </p:txBody>
      </p:sp>
      <p:sp>
        <p:nvSpPr>
          <p:cNvPr id="8" name="TextBox 8"/>
          <p:cNvSpPr txBox="1"/>
          <p:nvPr/>
        </p:nvSpPr>
        <p:spPr>
          <a:xfrm>
            <a:off x="720000" y="2147643"/>
            <a:ext cx="5425484" cy="212090"/>
          </a:xfrm>
          <a:prstGeom prst="rect">
            <a:avLst/>
          </a:prstGeom>
        </p:spPr>
        <p:txBody>
          <a:bodyPr lIns="0" tIns="0" rIns="0" bIns="0" rtlCol="0" anchor="t">
            <a:spAutoFit/>
          </a:bodyPr>
          <a:lstStyle/>
          <a:p>
            <a:pPr algn="l">
              <a:lnSpc>
                <a:spcPts val="1689"/>
              </a:lnSpc>
            </a:pPr>
            <a:r>
              <a:rPr lang="es-419" sz="1299" b="1" noProof="0" dirty="0">
                <a:solidFill>
                  <a:srgbClr val="C9B8A7"/>
                </a:solidFill>
                <a:latin typeface="Ubuntu Bold"/>
                <a:ea typeface="Ubuntu Bold"/>
                <a:cs typeface="Ubuntu Bold"/>
                <a:sym typeface="Ubuntu Bold"/>
              </a:rPr>
              <a:t>Términos y condiciones</a:t>
            </a:r>
          </a:p>
        </p:txBody>
      </p:sp>
      <p:grpSp>
        <p:nvGrpSpPr>
          <p:cNvPr id="9" name="Group 9"/>
          <p:cNvGrpSpPr/>
          <p:nvPr/>
        </p:nvGrpSpPr>
        <p:grpSpPr>
          <a:xfrm>
            <a:off x="362278" y="10402750"/>
            <a:ext cx="6873841" cy="167610"/>
            <a:chOff x="0" y="-28575"/>
            <a:chExt cx="9165122" cy="223481"/>
          </a:xfrm>
        </p:grpSpPr>
        <p:sp>
          <p:nvSpPr>
            <p:cNvPr id="10" name="TextBox 10"/>
            <p:cNvSpPr txBox="1"/>
            <p:nvPr/>
          </p:nvSpPr>
          <p:spPr>
            <a:xfrm>
              <a:off x="0" y="-28575"/>
              <a:ext cx="1315624" cy="223481"/>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11" name="TextBox 11"/>
            <p:cNvSpPr txBox="1"/>
            <p:nvPr/>
          </p:nvSpPr>
          <p:spPr>
            <a:xfrm>
              <a:off x="3639027" y="3419"/>
              <a:ext cx="2146364" cy="18333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2" name="TextBox 12"/>
            <p:cNvSpPr txBox="1"/>
            <p:nvPr/>
          </p:nvSpPr>
          <p:spPr>
            <a:xfrm>
              <a:off x="7486068" y="1002"/>
              <a:ext cx="1679054" cy="18333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3" name="TextBox 13"/>
            <p:cNvSpPr txBox="1"/>
            <p:nvPr/>
          </p:nvSpPr>
          <p:spPr>
            <a:xfrm>
              <a:off x="6013218" y="1002"/>
              <a:ext cx="1378609" cy="18333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4" name="TextBox 14"/>
            <p:cNvSpPr txBox="1"/>
            <p:nvPr/>
          </p:nvSpPr>
          <p:spPr>
            <a:xfrm>
              <a:off x="1747465" y="1002"/>
              <a:ext cx="1508433" cy="185748"/>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56092" y="521900"/>
            <a:ext cx="1006014" cy="468201"/>
          </a:xfrm>
          <a:custGeom>
            <a:avLst/>
            <a:gdLst/>
            <a:ahLst/>
            <a:cxnLst/>
            <a:rect l="l" t="t" r="r" b="b"/>
            <a:pathLst>
              <a:path w="1006014" h="468201">
                <a:moveTo>
                  <a:pt x="0" y="0"/>
                </a:moveTo>
                <a:lnTo>
                  <a:pt x="1006014" y="0"/>
                </a:lnTo>
                <a:lnTo>
                  <a:pt x="1006014" y="468200"/>
                </a:lnTo>
                <a:lnTo>
                  <a:pt x="0" y="468200"/>
                </a:lnTo>
                <a:lnTo>
                  <a:pt x="0" y="0"/>
                </a:lnTo>
                <a:close/>
              </a:path>
            </a:pathLst>
          </a:custGeom>
          <a:blipFill>
            <a:blip r:embed="rId2"/>
            <a:stretch>
              <a:fillRect/>
            </a:stretch>
          </a:blipFill>
        </p:spPr>
        <p:txBody>
          <a:bodyPr/>
          <a:lstStyle/>
          <a:p>
            <a:endParaRPr lang="es-419" noProof="0" dirty="0"/>
          </a:p>
        </p:txBody>
      </p:sp>
      <p:sp>
        <p:nvSpPr>
          <p:cNvPr id="3" name="TextBox 3"/>
          <p:cNvSpPr txBox="1"/>
          <p:nvPr/>
        </p:nvSpPr>
        <p:spPr>
          <a:xfrm>
            <a:off x="720000" y="1449526"/>
            <a:ext cx="4213670" cy="285750"/>
          </a:xfrm>
          <a:prstGeom prst="rect">
            <a:avLst/>
          </a:prstGeom>
        </p:spPr>
        <p:txBody>
          <a:bodyPr lIns="0" tIns="0" rIns="0" bIns="0" rtlCol="0" anchor="t">
            <a:spAutoFit/>
          </a:bodyPr>
          <a:lstStyle/>
          <a:p>
            <a:pPr marL="0" lvl="0" indent="0" algn="l">
              <a:lnSpc>
                <a:spcPts val="2100"/>
              </a:lnSpc>
              <a:spcBef>
                <a:spcPct val="0"/>
              </a:spcBef>
            </a:pPr>
            <a:r>
              <a:rPr lang="es-419" sz="1500" b="1" noProof="0" dirty="0">
                <a:solidFill>
                  <a:srgbClr val="C9B8A7"/>
                </a:solidFill>
                <a:latin typeface="Ubuntu Bold"/>
                <a:ea typeface="Ubuntu Bold"/>
                <a:cs typeface="Ubuntu Bold"/>
                <a:sym typeface="Ubuntu Bold"/>
              </a:rPr>
              <a:t>ANEXO</a:t>
            </a:r>
          </a:p>
        </p:txBody>
      </p:sp>
      <p:sp>
        <p:nvSpPr>
          <p:cNvPr id="4" name="TextBox 4"/>
          <p:cNvSpPr txBox="1"/>
          <p:nvPr/>
        </p:nvSpPr>
        <p:spPr>
          <a:xfrm>
            <a:off x="720000" y="3060483"/>
            <a:ext cx="6120000" cy="6075045"/>
          </a:xfrm>
          <a:prstGeom prst="rect">
            <a:avLst/>
          </a:prstGeom>
        </p:spPr>
        <p:txBody>
          <a:bodyPr lIns="0" tIns="0" rIns="0" bIns="0" rtlCol="0" anchor="t">
            <a:spAutoFit/>
          </a:bodyPr>
          <a:lstStyle/>
          <a:p>
            <a:pPr algn="just">
              <a:lnSpc>
                <a:spcPts val="1679"/>
              </a:lnSpc>
            </a:pPr>
            <a:r>
              <a:rPr lang="es-419" sz="1200" b="1" noProof="0" dirty="0">
                <a:solidFill>
                  <a:srgbClr val="000000"/>
                </a:solidFill>
                <a:latin typeface="Roboto Bold"/>
                <a:ea typeface="Roboto Bold"/>
                <a:cs typeface="Roboto Bold"/>
                <a:sym typeface="Roboto Bold"/>
              </a:rPr>
              <a:t>8)</a:t>
            </a:r>
            <a:r>
              <a:rPr lang="es-419" sz="1200" noProof="0" dirty="0">
                <a:solidFill>
                  <a:srgbClr val="000000"/>
                </a:solidFill>
                <a:latin typeface="Roboto"/>
                <a:ea typeface="Roboto"/>
                <a:cs typeface="Roboto"/>
                <a:sym typeface="Roboto"/>
              </a:rPr>
              <a:t> En el curso del trabajo pueden desarrollarse comunicaciones entre las partes por vía electrónica (e-mail). Sin embargo, las partes no pueden garantizarse que la transmisión electrónica de información sea segura o esté libre de errores y dicha información podría ser interceptada, dañada, perdida, destruida, llegar tarde o estar incompleta o ser afectada en forma adversa de otro modo o puede no ser seguro utilizarla; en consecuencia las partes no resultarán responsables ante el acaecimiento de algunos de estos hechos, como así tampoco de sus derivaciones, con excepción de aquellas que sean emergentes de un acto ilícito e intencionado. En el mismo sentido, si bien las partes se comprometen a utilizar procedimientos razonables para detectar los virus más comúnmente conocidos antes de enviar información en forma electrónica, las partes no tendrán ninguna responsabilidad frente a la otra, por daños emergentes o relacionada con la comunicación electrónica de información entre ellas.</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b="1" noProof="0" dirty="0">
                <a:solidFill>
                  <a:srgbClr val="000000"/>
                </a:solidFill>
                <a:latin typeface="Roboto Bold"/>
                <a:ea typeface="Roboto Bold"/>
                <a:cs typeface="Roboto Bold"/>
                <a:sym typeface="Roboto Bold"/>
              </a:rPr>
              <a:t>9)</a:t>
            </a:r>
            <a:r>
              <a:rPr lang="es-419" sz="1200" noProof="0" dirty="0">
                <a:solidFill>
                  <a:srgbClr val="000000"/>
                </a:solidFill>
                <a:latin typeface="Roboto"/>
                <a:ea typeface="Roboto"/>
                <a:cs typeface="Roboto"/>
                <a:sym typeface="Roboto"/>
              </a:rPr>
              <a:t> Los servicios incluidos en esta confirmación de términos de referencia, estarán regidos y serán interpretados de acuerdo con las leyes de la República Oriental del Uruguay, y por la presente se conviene y acepta irrevocablemente que los tribunales de la República Oriental del Uruguay tendrán competencia exclusiva para dirimir cualquier reclamo, diferencia o controversia, incluyendo sin limitaciones los reclamos de compensación o contrademandas emergentes o relacionados con dichos servicios. Cada parte renuncia irrevocablemente a formular cualquier reclamo de que la acción ha sido instaurada en una jurisdicción que no corresponde o que tales tribunales no son competentes. </a:t>
            </a:r>
          </a:p>
          <a:p>
            <a:pPr algn="just">
              <a:lnSpc>
                <a:spcPts val="1679"/>
              </a:lnSpc>
            </a:pPr>
            <a:endParaRPr lang="es-419" sz="1200" noProof="0" dirty="0">
              <a:solidFill>
                <a:srgbClr val="000000"/>
              </a:solidFill>
              <a:latin typeface="Roboto"/>
              <a:ea typeface="Roboto"/>
              <a:cs typeface="Roboto"/>
              <a:sym typeface="Roboto"/>
            </a:endParaRPr>
          </a:p>
          <a:p>
            <a:pPr algn="just">
              <a:lnSpc>
                <a:spcPts val="1679"/>
              </a:lnSpc>
            </a:pPr>
            <a:r>
              <a:rPr lang="es-419" sz="1200" b="1" noProof="0" dirty="0">
                <a:solidFill>
                  <a:srgbClr val="000000"/>
                </a:solidFill>
                <a:latin typeface="Roboto Bold"/>
                <a:ea typeface="Roboto Bold"/>
                <a:cs typeface="Roboto Bold"/>
                <a:sym typeface="Roboto Bold"/>
              </a:rPr>
              <a:t>10) </a:t>
            </a:r>
            <a:r>
              <a:rPr lang="es-419" sz="1200" noProof="0" dirty="0">
                <a:solidFill>
                  <a:srgbClr val="000000"/>
                </a:solidFill>
                <a:latin typeface="Roboto"/>
                <a:ea typeface="Roboto"/>
                <a:cs typeface="Roboto"/>
                <a:sym typeface="Roboto"/>
              </a:rPr>
              <a:t>La información que MXA obtiene, accede y/o recibe del cliente -sea en forma oral, por escrito, o por cualquier otro medio- en el marco de la prestación de los servicios profesionales objeto de la propuesta de servicios adjunta, es considerada información confidencial, será utilizada exclusivamente para el cumplimiento de los servicios encargados por la presente, y no será divulgada a ningún tercero sin el previo consentimiento del cliente, salvo cuando sea exigido por la ley, u organismos judiciales o reguladores.</a:t>
            </a:r>
          </a:p>
        </p:txBody>
      </p:sp>
      <p:grpSp>
        <p:nvGrpSpPr>
          <p:cNvPr id="5" name="Group 5"/>
          <p:cNvGrpSpPr/>
          <p:nvPr/>
        </p:nvGrpSpPr>
        <p:grpSpPr>
          <a:xfrm>
            <a:off x="0" y="10278452"/>
            <a:ext cx="7560000" cy="413548"/>
            <a:chOff x="0" y="0"/>
            <a:chExt cx="8576120" cy="469132"/>
          </a:xfrm>
        </p:grpSpPr>
        <p:sp>
          <p:nvSpPr>
            <p:cNvPr id="6" name="Freeform 6"/>
            <p:cNvSpPr/>
            <p:nvPr/>
          </p:nvSpPr>
          <p:spPr>
            <a:xfrm>
              <a:off x="0" y="0"/>
              <a:ext cx="8576120" cy="469132"/>
            </a:xfrm>
            <a:custGeom>
              <a:avLst/>
              <a:gdLst/>
              <a:ahLst/>
              <a:cxnLst/>
              <a:rect l="l" t="t" r="r" b="b"/>
              <a:pathLst>
                <a:path w="8576120" h="469132">
                  <a:moveTo>
                    <a:pt x="0" y="0"/>
                  </a:moveTo>
                  <a:lnTo>
                    <a:pt x="8576120" y="0"/>
                  </a:lnTo>
                  <a:lnTo>
                    <a:pt x="8576120" y="469132"/>
                  </a:lnTo>
                  <a:lnTo>
                    <a:pt x="0" y="469132"/>
                  </a:lnTo>
                  <a:close/>
                </a:path>
              </a:pathLst>
            </a:custGeom>
            <a:solidFill>
              <a:srgbClr val="FAF6F1"/>
            </a:solidFill>
          </p:spPr>
          <p:txBody>
            <a:bodyPr/>
            <a:lstStyle/>
            <a:p>
              <a:endParaRPr lang="es-419" noProof="0" dirty="0"/>
            </a:p>
          </p:txBody>
        </p:sp>
        <p:sp>
          <p:nvSpPr>
            <p:cNvPr id="7" name="TextBox 7"/>
            <p:cNvSpPr txBox="1"/>
            <p:nvPr/>
          </p:nvSpPr>
          <p:spPr>
            <a:xfrm>
              <a:off x="0" y="-19050"/>
              <a:ext cx="8576120" cy="488182"/>
            </a:xfrm>
            <a:prstGeom prst="rect">
              <a:avLst/>
            </a:prstGeom>
          </p:spPr>
          <p:txBody>
            <a:bodyPr lIns="43486" tIns="43486" rIns="43486" bIns="43486" rtlCol="0" anchor="ctr"/>
            <a:lstStyle/>
            <a:p>
              <a:pPr algn="ctr">
                <a:lnSpc>
                  <a:spcPts val="599"/>
                </a:lnSpc>
              </a:pPr>
              <a:endParaRPr lang="es-419" noProof="0" dirty="0"/>
            </a:p>
          </p:txBody>
        </p:sp>
      </p:grpSp>
      <p:sp>
        <p:nvSpPr>
          <p:cNvPr id="8" name="TextBox 8"/>
          <p:cNvSpPr txBox="1"/>
          <p:nvPr/>
        </p:nvSpPr>
        <p:spPr>
          <a:xfrm>
            <a:off x="362278" y="10395606"/>
            <a:ext cx="1023252" cy="166826"/>
          </a:xfrm>
          <a:prstGeom prst="rect">
            <a:avLst/>
          </a:prstGeom>
        </p:spPr>
        <p:txBody>
          <a:bodyPr wrap="square" lIns="0" tIns="0" rIns="0" bIns="0" rtlCol="0" anchor="t">
            <a:spAutoFit/>
          </a:bodyPr>
          <a:lstStyle/>
          <a:p>
            <a:pPr algn="ctr">
              <a:lnSpc>
                <a:spcPts val="1438"/>
              </a:lnSpc>
              <a:spcBef>
                <a:spcPct val="0"/>
              </a:spcBef>
            </a:pPr>
            <a:r>
              <a:rPr lang="es-419" sz="1027" spc="159" noProof="0" dirty="0">
                <a:solidFill>
                  <a:srgbClr val="282828"/>
                </a:solidFill>
                <a:latin typeface="Roboto"/>
                <a:ea typeface="Roboto"/>
                <a:cs typeface="Roboto"/>
                <a:sym typeface="Roboto"/>
              </a:rPr>
              <a:t>mxa.com.uy</a:t>
            </a:r>
          </a:p>
        </p:txBody>
      </p:sp>
      <p:sp>
        <p:nvSpPr>
          <p:cNvPr id="9" name="TextBox 9"/>
          <p:cNvSpPr txBox="1"/>
          <p:nvPr/>
        </p:nvSpPr>
        <p:spPr>
          <a:xfrm>
            <a:off x="3091548" y="10421983"/>
            <a:ext cx="1609773" cy="142261"/>
          </a:xfrm>
          <a:prstGeom prst="rect">
            <a:avLst/>
          </a:prstGeom>
        </p:spPr>
        <p:txBody>
          <a:bodyPr lIns="0" tIns="0" rIns="0" bIns="0" rtlCol="0" anchor="t">
            <a:spAutoFit/>
          </a:bodyPr>
          <a:lstStyle/>
          <a:p>
            <a:pPr algn="ctr">
              <a:lnSpc>
                <a:spcPts val="1198"/>
              </a:lnSpc>
            </a:pPr>
            <a:r>
              <a:rPr lang="es-419" sz="856" spc="56" noProof="0" dirty="0" err="1">
                <a:solidFill>
                  <a:srgbClr val="282828"/>
                </a:solidFill>
                <a:latin typeface="Roboto"/>
                <a:ea typeface="Roboto"/>
                <a:cs typeface="Roboto"/>
                <a:sym typeface="Roboto"/>
              </a:rPr>
              <a:t>Bvr</a:t>
            </a:r>
            <a:r>
              <a:rPr lang="es-419" sz="856" spc="56" noProof="0" dirty="0">
                <a:solidFill>
                  <a:srgbClr val="282828"/>
                </a:solidFill>
                <a:latin typeface="Roboto"/>
                <a:ea typeface="Roboto"/>
                <a:cs typeface="Roboto"/>
                <a:sym typeface="Roboto"/>
              </a:rPr>
              <a:t>. Gral. Artigas 417 piso 7     </a:t>
            </a:r>
          </a:p>
        </p:txBody>
      </p:sp>
      <p:sp>
        <p:nvSpPr>
          <p:cNvPr id="10" name="TextBox 10"/>
          <p:cNvSpPr txBox="1"/>
          <p:nvPr/>
        </p:nvSpPr>
        <p:spPr>
          <a:xfrm>
            <a:off x="5976829" y="10420171"/>
            <a:ext cx="1259290" cy="142261"/>
          </a:xfrm>
          <a:prstGeom prst="rect">
            <a:avLst/>
          </a:prstGeom>
        </p:spPr>
        <p:txBody>
          <a:bodyPr lIns="0" tIns="0" rIns="0" bIns="0" rtlCol="0" anchor="t">
            <a:spAutoFit/>
          </a:bodyPr>
          <a:lstStyle/>
          <a:p>
            <a:pPr algn="r">
              <a:lnSpc>
                <a:spcPts val="1198"/>
              </a:lnSpc>
            </a:pPr>
            <a:r>
              <a:rPr lang="es-419" sz="856" spc="56" noProof="0" dirty="0">
                <a:solidFill>
                  <a:srgbClr val="282828"/>
                </a:solidFill>
                <a:latin typeface="Roboto"/>
                <a:ea typeface="Roboto"/>
                <a:cs typeface="Roboto"/>
                <a:sym typeface="Roboto"/>
              </a:rPr>
              <a:t>  Montevideo, Uruguay</a:t>
            </a:r>
          </a:p>
        </p:txBody>
      </p:sp>
      <p:sp>
        <p:nvSpPr>
          <p:cNvPr id="11" name="TextBox 11"/>
          <p:cNvSpPr txBox="1"/>
          <p:nvPr/>
        </p:nvSpPr>
        <p:spPr>
          <a:xfrm>
            <a:off x="4872192" y="10420171"/>
            <a:ext cx="1033957" cy="142261"/>
          </a:xfrm>
          <a:prstGeom prst="rect">
            <a:avLst/>
          </a:prstGeom>
        </p:spPr>
        <p:txBody>
          <a:bodyPr lIns="0" tIns="0" rIns="0" bIns="0" rtlCol="0" anchor="t">
            <a:spAutoFit/>
          </a:bodyPr>
          <a:lstStyle/>
          <a:p>
            <a:pPr algn="ctr">
              <a:lnSpc>
                <a:spcPts val="1198"/>
              </a:lnSpc>
            </a:pPr>
            <a:r>
              <a:rPr lang="es-419" sz="856" spc="56" noProof="0" dirty="0">
                <a:solidFill>
                  <a:srgbClr val="282828"/>
                </a:solidFill>
                <a:latin typeface="Roboto"/>
                <a:ea typeface="Roboto"/>
                <a:cs typeface="Roboto"/>
                <a:sym typeface="Roboto"/>
              </a:rPr>
              <a:t>Punta Carretas</a:t>
            </a:r>
          </a:p>
        </p:txBody>
      </p:sp>
      <p:sp>
        <p:nvSpPr>
          <p:cNvPr id="12" name="TextBox 12"/>
          <p:cNvSpPr txBox="1"/>
          <p:nvPr/>
        </p:nvSpPr>
        <p:spPr>
          <a:xfrm>
            <a:off x="1672877" y="10420171"/>
            <a:ext cx="1131324" cy="144073"/>
          </a:xfrm>
          <a:prstGeom prst="rect">
            <a:avLst/>
          </a:prstGeom>
        </p:spPr>
        <p:txBody>
          <a:bodyPr lIns="0" tIns="0" rIns="0" bIns="0" rtlCol="0" anchor="t">
            <a:spAutoFit/>
          </a:bodyPr>
          <a:lstStyle/>
          <a:p>
            <a:pPr algn="ctr">
              <a:lnSpc>
                <a:spcPts val="1198"/>
              </a:lnSpc>
              <a:spcBef>
                <a:spcPct val="0"/>
              </a:spcBef>
            </a:pPr>
            <a:r>
              <a:rPr lang="es-419" sz="856" spc="132" noProof="0" dirty="0">
                <a:solidFill>
                  <a:srgbClr val="282828"/>
                </a:solidFill>
                <a:latin typeface="Roboto"/>
                <a:ea typeface="Roboto"/>
                <a:cs typeface="Roboto"/>
                <a:sym typeface="Roboto"/>
              </a:rPr>
              <a:t>(+598) 2712 6550</a:t>
            </a:r>
          </a:p>
        </p:txBody>
      </p:sp>
      <p:sp>
        <p:nvSpPr>
          <p:cNvPr id="13" name="TextBox 13"/>
          <p:cNvSpPr txBox="1"/>
          <p:nvPr/>
        </p:nvSpPr>
        <p:spPr>
          <a:xfrm>
            <a:off x="720000" y="2138373"/>
            <a:ext cx="5425484" cy="212090"/>
          </a:xfrm>
          <a:prstGeom prst="rect">
            <a:avLst/>
          </a:prstGeom>
        </p:spPr>
        <p:txBody>
          <a:bodyPr lIns="0" tIns="0" rIns="0" bIns="0" rtlCol="0" anchor="t">
            <a:spAutoFit/>
          </a:bodyPr>
          <a:lstStyle/>
          <a:p>
            <a:pPr algn="l">
              <a:lnSpc>
                <a:spcPts val="1689"/>
              </a:lnSpc>
            </a:pPr>
            <a:r>
              <a:rPr lang="es-419" sz="1299" b="1" noProof="0" dirty="0">
                <a:solidFill>
                  <a:srgbClr val="C9B8A7"/>
                </a:solidFill>
                <a:latin typeface="Ubuntu Bold"/>
                <a:ea typeface="Ubuntu Bold"/>
                <a:cs typeface="Ubuntu Bold"/>
                <a:sym typeface="Ubuntu Bold"/>
              </a:rPr>
              <a:t>Términos y condiciones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2774</Words>
  <Application>Microsoft Office PowerPoint</Application>
  <PresentationFormat>Personalizado</PresentationFormat>
  <Paragraphs>162</Paragraphs>
  <Slides>10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Roboto</vt:lpstr>
      <vt:lpstr>Calibri</vt:lpstr>
      <vt:lpstr>Ubuntu Bold</vt:lpstr>
      <vt:lpstr>Arial</vt:lpstr>
      <vt:lpstr>Roboto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GPinzon-Propuesta de Servicios Recurrentes, contable, societario y tributario</dc:title>
  <dc:creator>Admin</dc:creator>
  <cp:lastModifiedBy>Juan Pablo Rebellato</cp:lastModifiedBy>
  <cp:revision>54</cp:revision>
  <dcterms:created xsi:type="dcterms:W3CDTF">2006-08-16T00:00:00Z</dcterms:created>
  <dcterms:modified xsi:type="dcterms:W3CDTF">2026-05-08T20:15:36Z</dcterms:modified>
  <dc:identifier>DAG1_J8vwlQ</dc:identifier>
</cp:coreProperties>
</file>