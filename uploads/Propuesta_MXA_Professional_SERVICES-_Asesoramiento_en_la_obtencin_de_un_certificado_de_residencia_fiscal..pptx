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7556500" cy="10693400"/>
  <p:notesSz cx="6858000" cy="9144000"/>
  <p:embeddedFontLst>
    <p:embeddedFont>
      <p:font typeface="Ubuntu Bold" charset="1" panose="020B0804030602030204"/>
      <p:regular r:id="rId15"/>
    </p:embeddedFont>
    <p:embeddedFont>
      <p:font typeface="Roboto Bold" charset="1" panose="02000000000000000000"/>
      <p:regular r:id="rId16"/>
    </p:embeddedFont>
    <p:embeddedFont>
      <p:font typeface="Roboto" charset="1" panose="020000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80C11"/>
        </a:solidFill>
      </p:bgPr>
    </p:bg>
    <p:spTree>
      <p:nvGrpSpPr>
        <p:cNvPr id="1" name=""/>
        <p:cNvGrpSpPr/>
        <p:nvPr/>
      </p:nvGrpSpPr>
      <p:grpSpPr>
        <a:xfrm>
          <a:off x="0" y="0"/>
          <a:ext cx="0" cy="0"/>
          <a:chOff x="0" y="0"/>
          <a:chExt cx="0" cy="0"/>
        </a:xfrm>
      </p:grpSpPr>
      <p:grpSp>
        <p:nvGrpSpPr>
          <p:cNvPr name="Group 2" id="2"/>
          <p:cNvGrpSpPr/>
          <p:nvPr/>
        </p:nvGrpSpPr>
        <p:grpSpPr>
          <a:xfrm rot="0">
            <a:off x="0" y="10278452"/>
            <a:ext cx="7560000" cy="413548"/>
            <a:chOff x="0" y="0"/>
            <a:chExt cx="8576120" cy="469132"/>
          </a:xfrm>
        </p:grpSpPr>
        <p:sp>
          <p:nvSpPr>
            <p:cNvPr name="Freeform 3" id="3"/>
            <p:cNvSpPr/>
            <p:nvPr/>
          </p:nvSpPr>
          <p:spPr>
            <a:xfrm flipH="false" flipV="false" rot="0">
              <a:off x="0" y="0"/>
              <a:ext cx="8576120" cy="469132"/>
            </a:xfrm>
            <a:custGeom>
              <a:avLst/>
              <a:gdLst/>
              <a:ahLst/>
              <a:cxnLst/>
              <a:rect r="r" b="b" t="t" l="l"/>
              <a:pathLst>
                <a:path h="469132" w="8576120">
                  <a:moveTo>
                    <a:pt x="0" y="0"/>
                  </a:moveTo>
                  <a:lnTo>
                    <a:pt x="8576120" y="0"/>
                  </a:lnTo>
                  <a:lnTo>
                    <a:pt x="8576120" y="469132"/>
                  </a:lnTo>
                  <a:lnTo>
                    <a:pt x="0" y="469132"/>
                  </a:lnTo>
                  <a:close/>
                </a:path>
              </a:pathLst>
            </a:custGeom>
            <a:solidFill>
              <a:srgbClr val="FAF6F1"/>
            </a:solidFill>
          </p:spPr>
        </p:sp>
        <p:sp>
          <p:nvSpPr>
            <p:cNvPr name="TextBox 4" id="4"/>
            <p:cNvSpPr txBox="true"/>
            <p:nvPr/>
          </p:nvSpPr>
          <p:spPr>
            <a:xfrm>
              <a:off x="0" y="-19050"/>
              <a:ext cx="8576120" cy="488182"/>
            </a:xfrm>
            <a:prstGeom prst="rect">
              <a:avLst/>
            </a:prstGeom>
          </p:spPr>
          <p:txBody>
            <a:bodyPr anchor="ctr" rtlCol="false" tIns="43486" lIns="43486" bIns="43486" rIns="43486"/>
            <a:lstStyle/>
            <a:p>
              <a:pPr algn="ctr">
                <a:lnSpc>
                  <a:spcPts val="599"/>
                </a:lnSpc>
              </a:pPr>
            </a:p>
          </p:txBody>
        </p:sp>
      </p:grpSp>
      <p:sp>
        <p:nvSpPr>
          <p:cNvPr name="Freeform 5" id="5"/>
          <p:cNvSpPr/>
          <p:nvPr/>
        </p:nvSpPr>
        <p:spPr>
          <a:xfrm flipH="false" flipV="false" rot="0">
            <a:off x="450397" y="3502392"/>
            <a:ext cx="3961325" cy="1843608"/>
          </a:xfrm>
          <a:custGeom>
            <a:avLst/>
            <a:gdLst/>
            <a:ahLst/>
            <a:cxnLst/>
            <a:rect r="r" b="b" t="t" l="l"/>
            <a:pathLst>
              <a:path h="1843608" w="3961325">
                <a:moveTo>
                  <a:pt x="0" y="0"/>
                </a:moveTo>
                <a:lnTo>
                  <a:pt x="3961325" y="0"/>
                </a:lnTo>
                <a:lnTo>
                  <a:pt x="3961325" y="1843608"/>
                </a:lnTo>
                <a:lnTo>
                  <a:pt x="0" y="1843608"/>
                </a:lnTo>
                <a:lnTo>
                  <a:pt x="0" y="0"/>
                </a:lnTo>
                <a:close/>
              </a:path>
            </a:pathLst>
          </a:custGeom>
          <a:blipFill>
            <a:blip r:embed="rId2"/>
            <a:stretch>
              <a:fillRect l="0" t="0" r="0" b="0"/>
            </a:stretch>
          </a:blipFill>
        </p:spPr>
      </p:sp>
      <p:sp>
        <p:nvSpPr>
          <p:cNvPr name="TextBox 6" id="6"/>
          <p:cNvSpPr txBox="true"/>
          <p:nvPr/>
        </p:nvSpPr>
        <p:spPr>
          <a:xfrm rot="0">
            <a:off x="543789" y="6166054"/>
            <a:ext cx="4938773" cy="1434888"/>
          </a:xfrm>
          <a:prstGeom prst="rect">
            <a:avLst/>
          </a:prstGeom>
        </p:spPr>
        <p:txBody>
          <a:bodyPr anchor="t" rtlCol="false" tIns="0" lIns="0" bIns="0" rIns="0">
            <a:spAutoFit/>
          </a:bodyPr>
          <a:lstStyle/>
          <a:p>
            <a:pPr algn="l">
              <a:lnSpc>
                <a:spcPts val="5476"/>
              </a:lnSpc>
            </a:pPr>
            <a:r>
              <a:rPr lang="en-US" sz="5166" b="true">
                <a:solidFill>
                  <a:srgbClr val="F3F0E2"/>
                </a:solidFill>
                <a:latin typeface="Ubuntu Bold"/>
                <a:ea typeface="Ubuntu Bold"/>
                <a:cs typeface="Ubuntu Bold"/>
                <a:sym typeface="Ubuntu Bold"/>
              </a:rPr>
              <a:t>Propuesta </a:t>
            </a:r>
          </a:p>
          <a:p>
            <a:pPr algn="l" marL="0" indent="0" lvl="0">
              <a:lnSpc>
                <a:spcPts val="5476"/>
              </a:lnSpc>
            </a:pPr>
            <a:r>
              <a:rPr lang="en-US" b="true" sz="5166">
                <a:solidFill>
                  <a:srgbClr val="F3F0E2"/>
                </a:solidFill>
                <a:latin typeface="Ubuntu Bold"/>
                <a:ea typeface="Ubuntu Bold"/>
                <a:cs typeface="Ubuntu Bold"/>
                <a:sym typeface="Ubuntu Bold"/>
              </a:rPr>
              <a:t>de servicios</a:t>
            </a:r>
          </a:p>
        </p:txBody>
      </p:sp>
      <p:sp>
        <p:nvSpPr>
          <p:cNvPr name="TextBox 7" id="7"/>
          <p:cNvSpPr txBox="true"/>
          <p:nvPr/>
        </p:nvSpPr>
        <p:spPr>
          <a:xfrm rot="0">
            <a:off x="581276" y="7881125"/>
            <a:ext cx="1849784" cy="283693"/>
          </a:xfrm>
          <a:prstGeom prst="rect">
            <a:avLst/>
          </a:prstGeom>
        </p:spPr>
        <p:txBody>
          <a:bodyPr anchor="t" rtlCol="false" tIns="0" lIns="0" bIns="0" rIns="0">
            <a:spAutoFit/>
          </a:bodyPr>
          <a:lstStyle/>
          <a:p>
            <a:pPr algn="l" marL="0" indent="0" lvl="0">
              <a:lnSpc>
                <a:spcPts val="2213"/>
              </a:lnSpc>
              <a:spcBef>
                <a:spcPct val="0"/>
              </a:spcBef>
            </a:pPr>
            <a:r>
              <a:rPr lang="en-US" b="true" sz="1580">
                <a:solidFill>
                  <a:srgbClr val="F3F0E2"/>
                </a:solidFill>
                <a:latin typeface="Roboto Bold"/>
                <a:ea typeface="Roboto Bold"/>
                <a:cs typeface="Roboto Bold"/>
                <a:sym typeface="Roboto Bold"/>
              </a:rPr>
              <a:t>Agosto 2025</a:t>
            </a:r>
          </a:p>
        </p:txBody>
      </p:sp>
      <p:sp>
        <p:nvSpPr>
          <p:cNvPr name="TextBox 8" id="8"/>
          <p:cNvSpPr txBox="true"/>
          <p:nvPr/>
        </p:nvSpPr>
        <p:spPr>
          <a:xfrm rot="0">
            <a:off x="362278" y="10395606"/>
            <a:ext cx="911557" cy="181864"/>
          </a:xfrm>
          <a:prstGeom prst="rect">
            <a:avLst/>
          </a:prstGeom>
        </p:spPr>
        <p:txBody>
          <a:bodyPr anchor="t" rtlCol="false" tIns="0" lIns="0" bIns="0" rIns="0">
            <a:spAutoFit/>
          </a:bodyPr>
          <a:lstStyle/>
          <a:p>
            <a:pPr algn="ctr">
              <a:lnSpc>
                <a:spcPts val="1438"/>
              </a:lnSpc>
              <a:spcBef>
                <a:spcPct val="0"/>
              </a:spcBef>
            </a:pPr>
            <a:r>
              <a:rPr lang="en-US" sz="1027" spc="159">
                <a:solidFill>
                  <a:srgbClr val="282828"/>
                </a:solidFill>
                <a:latin typeface="Roboto"/>
                <a:ea typeface="Roboto"/>
                <a:cs typeface="Roboto"/>
                <a:sym typeface="Roboto"/>
              </a:rPr>
              <a:t>mxa.com.uy</a:t>
            </a:r>
          </a:p>
        </p:txBody>
      </p:sp>
      <p:sp>
        <p:nvSpPr>
          <p:cNvPr name="TextBox 9" id="9"/>
          <p:cNvSpPr txBox="true"/>
          <p:nvPr/>
        </p:nvSpPr>
        <p:spPr>
          <a:xfrm rot="0">
            <a:off x="3091548" y="10421983"/>
            <a:ext cx="1609773" cy="142261"/>
          </a:xfrm>
          <a:prstGeom prst="rect">
            <a:avLst/>
          </a:prstGeom>
        </p:spPr>
        <p:txBody>
          <a:bodyPr anchor="t" rtlCol="false" tIns="0" lIns="0" bIns="0" rIns="0">
            <a:spAutoFit/>
          </a:bodyPr>
          <a:lstStyle/>
          <a:p>
            <a:pPr algn="ctr">
              <a:lnSpc>
                <a:spcPts val="1198"/>
              </a:lnSpc>
            </a:pPr>
            <a:r>
              <a:rPr lang="en-US" sz="856" spc="56">
                <a:solidFill>
                  <a:srgbClr val="282828"/>
                </a:solidFill>
                <a:latin typeface="Roboto"/>
                <a:ea typeface="Roboto"/>
                <a:cs typeface="Roboto"/>
                <a:sym typeface="Roboto"/>
              </a:rPr>
              <a:t>Bvr. Gral. Artigas 417 piso 7     </a:t>
            </a:r>
          </a:p>
        </p:txBody>
      </p:sp>
      <p:sp>
        <p:nvSpPr>
          <p:cNvPr name="TextBox 10" id="10"/>
          <p:cNvSpPr txBox="true"/>
          <p:nvPr/>
        </p:nvSpPr>
        <p:spPr>
          <a:xfrm rot="0">
            <a:off x="5976829" y="10420171"/>
            <a:ext cx="1259290" cy="142261"/>
          </a:xfrm>
          <a:prstGeom prst="rect">
            <a:avLst/>
          </a:prstGeom>
        </p:spPr>
        <p:txBody>
          <a:bodyPr anchor="t" rtlCol="false" tIns="0" lIns="0" bIns="0" rIns="0">
            <a:spAutoFit/>
          </a:bodyPr>
          <a:lstStyle/>
          <a:p>
            <a:pPr algn="r">
              <a:lnSpc>
                <a:spcPts val="1198"/>
              </a:lnSpc>
            </a:pPr>
            <a:r>
              <a:rPr lang="en-US" sz="856" spc="56">
                <a:solidFill>
                  <a:srgbClr val="282828"/>
                </a:solidFill>
                <a:latin typeface="Roboto"/>
                <a:ea typeface="Roboto"/>
                <a:cs typeface="Roboto"/>
                <a:sym typeface="Roboto"/>
              </a:rPr>
              <a:t>  </a:t>
            </a:r>
            <a:r>
              <a:rPr lang="en-US" sz="856" spc="56">
                <a:solidFill>
                  <a:srgbClr val="282828"/>
                </a:solidFill>
                <a:latin typeface="Roboto"/>
                <a:ea typeface="Roboto"/>
                <a:cs typeface="Roboto"/>
                <a:sym typeface="Roboto"/>
              </a:rPr>
              <a:t>Montevideo, Uruguay</a:t>
            </a:r>
          </a:p>
        </p:txBody>
      </p:sp>
      <p:sp>
        <p:nvSpPr>
          <p:cNvPr name="TextBox 11" id="11"/>
          <p:cNvSpPr txBox="true"/>
          <p:nvPr/>
        </p:nvSpPr>
        <p:spPr>
          <a:xfrm rot="0">
            <a:off x="4872192" y="10420171"/>
            <a:ext cx="1033957" cy="142261"/>
          </a:xfrm>
          <a:prstGeom prst="rect">
            <a:avLst/>
          </a:prstGeom>
        </p:spPr>
        <p:txBody>
          <a:bodyPr anchor="t" rtlCol="false" tIns="0" lIns="0" bIns="0" rIns="0">
            <a:spAutoFit/>
          </a:bodyPr>
          <a:lstStyle/>
          <a:p>
            <a:pPr algn="ctr">
              <a:lnSpc>
                <a:spcPts val="1198"/>
              </a:lnSpc>
            </a:pPr>
            <a:r>
              <a:rPr lang="en-US" sz="856" spc="56">
                <a:solidFill>
                  <a:srgbClr val="282828"/>
                </a:solidFill>
                <a:latin typeface="Roboto"/>
                <a:ea typeface="Roboto"/>
                <a:cs typeface="Roboto"/>
                <a:sym typeface="Roboto"/>
              </a:rPr>
              <a:t>Punta Carretas</a:t>
            </a:r>
          </a:p>
        </p:txBody>
      </p:sp>
      <p:sp>
        <p:nvSpPr>
          <p:cNvPr name="TextBox 12" id="12"/>
          <p:cNvSpPr txBox="true"/>
          <p:nvPr/>
        </p:nvSpPr>
        <p:spPr>
          <a:xfrm rot="0">
            <a:off x="1672877" y="10420171"/>
            <a:ext cx="1131324" cy="144073"/>
          </a:xfrm>
          <a:prstGeom prst="rect">
            <a:avLst/>
          </a:prstGeom>
        </p:spPr>
        <p:txBody>
          <a:bodyPr anchor="t" rtlCol="false" tIns="0" lIns="0" bIns="0" rIns="0">
            <a:spAutoFit/>
          </a:bodyPr>
          <a:lstStyle/>
          <a:p>
            <a:pPr algn="ctr">
              <a:lnSpc>
                <a:spcPts val="1198"/>
              </a:lnSpc>
              <a:spcBef>
                <a:spcPct val="0"/>
              </a:spcBef>
            </a:pPr>
            <a:r>
              <a:rPr lang="en-US" sz="856" spc="132">
                <a:solidFill>
                  <a:srgbClr val="282828"/>
                </a:solidFill>
                <a:latin typeface="Roboto"/>
                <a:ea typeface="Roboto"/>
                <a:cs typeface="Roboto"/>
                <a:sym typeface="Roboto"/>
              </a:rPr>
              <a:t>(+598) 2712 6550</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156092" y="521900"/>
            <a:ext cx="1006014" cy="468201"/>
          </a:xfrm>
          <a:custGeom>
            <a:avLst/>
            <a:gdLst/>
            <a:ahLst/>
            <a:cxnLst/>
            <a:rect r="r" b="b" t="t" l="l"/>
            <a:pathLst>
              <a:path h="468201" w="1006014">
                <a:moveTo>
                  <a:pt x="0" y="0"/>
                </a:moveTo>
                <a:lnTo>
                  <a:pt x="1006014" y="0"/>
                </a:lnTo>
                <a:lnTo>
                  <a:pt x="1006014" y="468200"/>
                </a:lnTo>
                <a:lnTo>
                  <a:pt x="0" y="468200"/>
                </a:lnTo>
                <a:lnTo>
                  <a:pt x="0" y="0"/>
                </a:lnTo>
                <a:close/>
              </a:path>
            </a:pathLst>
          </a:custGeom>
          <a:blipFill>
            <a:blip r:embed="rId2"/>
            <a:stretch>
              <a:fillRect l="0" t="0" r="0" b="0"/>
            </a:stretch>
          </a:blipFill>
        </p:spPr>
      </p:sp>
      <p:sp>
        <p:nvSpPr>
          <p:cNvPr name="TextBox 3" id="3"/>
          <p:cNvSpPr txBox="true"/>
          <p:nvPr/>
        </p:nvSpPr>
        <p:spPr>
          <a:xfrm rot="0">
            <a:off x="720000" y="1351535"/>
            <a:ext cx="6120000" cy="1013053"/>
          </a:xfrm>
          <a:prstGeom prst="rect">
            <a:avLst/>
          </a:prstGeom>
        </p:spPr>
        <p:txBody>
          <a:bodyPr anchor="t" rtlCol="false" tIns="0" lIns="0" bIns="0" rIns="0">
            <a:spAutoFit/>
          </a:bodyPr>
          <a:lstStyle/>
          <a:p>
            <a:pPr algn="just">
              <a:lnSpc>
                <a:spcPts val="1601"/>
              </a:lnSpc>
            </a:pPr>
            <a:r>
              <a:rPr lang="en-US" sz="1232" b="true">
                <a:solidFill>
                  <a:srgbClr val="000000"/>
                </a:solidFill>
                <a:latin typeface="Ubuntu Bold"/>
                <a:ea typeface="Ubuntu Bold"/>
                <a:cs typeface="Ubuntu Bold"/>
                <a:sym typeface="Ubuntu Bold"/>
              </a:rPr>
              <a:t>Para: Martin Rama</a:t>
            </a:r>
          </a:p>
          <a:p>
            <a:pPr algn="just">
              <a:lnSpc>
                <a:spcPts val="1601"/>
              </a:lnSpc>
            </a:pPr>
            <a:r>
              <a:rPr lang="en-US" sz="1232" b="true">
                <a:solidFill>
                  <a:srgbClr val="000000"/>
                </a:solidFill>
                <a:latin typeface="Ubuntu Bold"/>
                <a:ea typeface="Ubuntu Bold"/>
                <a:cs typeface="Ubuntu Bold"/>
                <a:sym typeface="Ubuntu Bold"/>
              </a:rPr>
              <a:t>Fecha: 05 de Agosto de 2025</a:t>
            </a:r>
          </a:p>
          <a:p>
            <a:pPr algn="just">
              <a:lnSpc>
                <a:spcPts val="1601"/>
              </a:lnSpc>
            </a:pPr>
            <a:r>
              <a:rPr lang="en-US" sz="1232" b="true">
                <a:solidFill>
                  <a:srgbClr val="000000"/>
                </a:solidFill>
                <a:latin typeface="Ubuntu Bold"/>
                <a:ea typeface="Ubuntu Bold"/>
                <a:cs typeface="Ubuntu Bold"/>
                <a:sym typeface="Ubuntu Bold"/>
              </a:rPr>
              <a:t>Ref.: Asesoramiento en la obtención de un certificado de residencia fiscal en Uruguay.</a:t>
            </a:r>
          </a:p>
          <a:p>
            <a:pPr algn="just">
              <a:lnSpc>
                <a:spcPts val="1601"/>
              </a:lnSpc>
            </a:pPr>
          </a:p>
        </p:txBody>
      </p:sp>
      <p:sp>
        <p:nvSpPr>
          <p:cNvPr name="TextBox 4" id="4"/>
          <p:cNvSpPr txBox="true"/>
          <p:nvPr/>
        </p:nvSpPr>
        <p:spPr>
          <a:xfrm rot="0">
            <a:off x="720000" y="8675664"/>
            <a:ext cx="2961476" cy="736473"/>
          </a:xfrm>
          <a:prstGeom prst="rect">
            <a:avLst/>
          </a:prstGeom>
        </p:spPr>
        <p:txBody>
          <a:bodyPr anchor="t" rtlCol="false" tIns="0" lIns="0" bIns="0" rIns="0">
            <a:spAutoFit/>
          </a:bodyPr>
          <a:lstStyle/>
          <a:p>
            <a:pPr algn="l">
              <a:lnSpc>
                <a:spcPts val="2016"/>
              </a:lnSpc>
            </a:pPr>
            <a:r>
              <a:rPr lang="en-US" sz="1200" b="true">
                <a:solidFill>
                  <a:srgbClr val="000000"/>
                </a:solidFill>
                <a:latin typeface="Ubuntu Bold"/>
                <a:ea typeface="Ubuntu Bold"/>
                <a:cs typeface="Ubuntu Bold"/>
                <a:sym typeface="Ubuntu Bold"/>
              </a:rPr>
              <a:t>Por el Cliente:</a:t>
            </a:r>
          </a:p>
          <a:p>
            <a:pPr algn="l">
              <a:lnSpc>
                <a:spcPts val="2016"/>
              </a:lnSpc>
            </a:pPr>
          </a:p>
          <a:p>
            <a:pPr algn="l">
              <a:lnSpc>
                <a:spcPts val="2016"/>
              </a:lnSpc>
            </a:pPr>
            <a:r>
              <a:rPr lang="en-US" b="true" sz="1200">
                <a:solidFill>
                  <a:srgbClr val="000000"/>
                </a:solidFill>
                <a:latin typeface="Ubuntu Bold"/>
                <a:ea typeface="Ubuntu Bold"/>
                <a:cs typeface="Ubuntu Bold"/>
                <a:sym typeface="Ubuntu Bold"/>
              </a:rPr>
              <a:t>Aclaración:</a:t>
            </a:r>
          </a:p>
        </p:txBody>
      </p:sp>
      <p:sp>
        <p:nvSpPr>
          <p:cNvPr name="TextBox 5" id="5"/>
          <p:cNvSpPr txBox="true"/>
          <p:nvPr/>
        </p:nvSpPr>
        <p:spPr>
          <a:xfrm rot="0">
            <a:off x="720000" y="2636497"/>
            <a:ext cx="6120000" cy="5655674"/>
          </a:xfrm>
          <a:prstGeom prst="rect">
            <a:avLst/>
          </a:prstGeom>
        </p:spPr>
        <p:txBody>
          <a:bodyPr anchor="t" rtlCol="false" tIns="0" lIns="0" bIns="0" rIns="0">
            <a:spAutoFit/>
          </a:bodyPr>
          <a:lstStyle/>
          <a:p>
            <a:pPr algn="just">
              <a:lnSpc>
                <a:spcPts val="1679"/>
              </a:lnSpc>
            </a:pPr>
            <a:r>
              <a:rPr lang="en-US" sz="1200">
                <a:solidFill>
                  <a:srgbClr val="000000"/>
                </a:solidFill>
                <a:latin typeface="Roboto"/>
                <a:ea typeface="Roboto"/>
                <a:cs typeface="Roboto"/>
                <a:sym typeface="Roboto"/>
              </a:rPr>
              <a:t>Estimado, </a:t>
            </a:r>
          </a:p>
          <a:p>
            <a:pPr algn="just">
              <a:lnSpc>
                <a:spcPts val="1679"/>
              </a:lnSpc>
            </a:pPr>
          </a:p>
          <a:p>
            <a:pPr algn="just">
              <a:lnSpc>
                <a:spcPts val="1679"/>
              </a:lnSpc>
            </a:pPr>
            <a:r>
              <a:rPr lang="en-US" sz="1200">
                <a:solidFill>
                  <a:srgbClr val="000000"/>
                </a:solidFill>
                <a:latin typeface="Roboto"/>
                <a:ea typeface="Roboto"/>
                <a:cs typeface="Roboto"/>
                <a:sym typeface="Roboto"/>
              </a:rPr>
              <a:t>De acuerdo con lo convenido, tenemos el agrado de dirigirnos a usted a efectos de hacerle llegar la presente propuesta de servicios profesionales.</a:t>
            </a:r>
          </a:p>
          <a:p>
            <a:pPr algn="just">
              <a:lnSpc>
                <a:spcPts val="1679"/>
              </a:lnSpc>
            </a:pPr>
          </a:p>
          <a:p>
            <a:pPr algn="just">
              <a:lnSpc>
                <a:spcPts val="1679"/>
              </a:lnSpc>
            </a:pPr>
            <a:r>
              <a:rPr lang="en-US" sz="1200">
                <a:solidFill>
                  <a:srgbClr val="000000"/>
                </a:solidFill>
                <a:latin typeface="Roboto"/>
                <a:ea typeface="Roboto"/>
                <a:cs typeface="Roboto"/>
                <a:sym typeface="Roboto"/>
              </a:rPr>
              <a:t>MXA agradece la confianza depositada en nuestro equipo, y espera que la presente propuesta de servicios merezca su aprobación.</a:t>
            </a:r>
          </a:p>
          <a:p>
            <a:pPr algn="just">
              <a:lnSpc>
                <a:spcPts val="1679"/>
              </a:lnSpc>
            </a:pPr>
          </a:p>
          <a:p>
            <a:pPr algn="just">
              <a:lnSpc>
                <a:spcPts val="1679"/>
              </a:lnSpc>
            </a:pPr>
            <a:r>
              <a:rPr lang="en-US" sz="1200">
                <a:solidFill>
                  <a:srgbClr val="000000"/>
                </a:solidFill>
                <a:latin typeface="Roboto"/>
                <a:ea typeface="Roboto"/>
                <a:cs typeface="Roboto"/>
                <a:sym typeface="Roboto"/>
              </a:rPr>
              <a:t>Quedamos a vuestra disposición para cualquier aclaración o información que consideren necesaria.</a:t>
            </a:r>
          </a:p>
          <a:p>
            <a:pPr algn="just">
              <a:lnSpc>
                <a:spcPts val="1679"/>
              </a:lnSpc>
            </a:pPr>
          </a:p>
          <a:p>
            <a:pPr algn="just">
              <a:lnSpc>
                <a:spcPts val="1679"/>
              </a:lnSpc>
            </a:pPr>
            <a:r>
              <a:rPr lang="en-US" sz="1200">
                <a:solidFill>
                  <a:srgbClr val="000000"/>
                </a:solidFill>
                <a:latin typeface="Roboto"/>
                <a:ea typeface="Roboto"/>
                <a:cs typeface="Roboto"/>
                <a:sym typeface="Roboto"/>
              </a:rPr>
              <a:t>Saluda a usted muy atentamente,</a:t>
            </a:r>
          </a:p>
          <a:p>
            <a:pPr algn="just">
              <a:lnSpc>
                <a:spcPts val="1679"/>
              </a:lnSpc>
            </a:pPr>
          </a:p>
          <a:p>
            <a:pPr algn="just">
              <a:lnSpc>
                <a:spcPts val="1679"/>
              </a:lnSpc>
            </a:pPr>
          </a:p>
          <a:p>
            <a:pPr algn="just">
              <a:lnSpc>
                <a:spcPts val="1679"/>
              </a:lnSpc>
            </a:pPr>
          </a:p>
          <a:p>
            <a:pPr algn="just">
              <a:lnSpc>
                <a:spcPts val="1679"/>
              </a:lnSpc>
            </a:pPr>
          </a:p>
          <a:p>
            <a:pPr algn="just">
              <a:lnSpc>
                <a:spcPts val="1679"/>
              </a:lnSpc>
            </a:pPr>
            <a:r>
              <a:rPr lang="en-US" sz="1200">
                <a:solidFill>
                  <a:srgbClr val="000000"/>
                </a:solidFill>
                <a:latin typeface="Roboto"/>
                <a:ea typeface="Roboto"/>
                <a:cs typeface="Roboto"/>
                <a:sym typeface="Roboto"/>
              </a:rPr>
              <a:t>_________________</a:t>
            </a:r>
          </a:p>
          <a:p>
            <a:pPr algn="just">
              <a:lnSpc>
                <a:spcPts val="1679"/>
              </a:lnSpc>
            </a:pPr>
            <a:r>
              <a:rPr lang="en-US" sz="1200">
                <a:solidFill>
                  <a:srgbClr val="000000"/>
                </a:solidFill>
                <a:latin typeface="Roboto"/>
                <a:ea typeface="Roboto"/>
                <a:cs typeface="Roboto"/>
                <a:sym typeface="Roboto"/>
              </a:rPr>
              <a:t>Federico Otegui</a:t>
            </a:r>
          </a:p>
          <a:p>
            <a:pPr algn="just">
              <a:lnSpc>
                <a:spcPts val="1679"/>
              </a:lnSpc>
            </a:pPr>
            <a:r>
              <a:rPr lang="en-US" sz="1200">
                <a:solidFill>
                  <a:srgbClr val="000000"/>
                </a:solidFill>
                <a:latin typeface="Roboto"/>
                <a:ea typeface="Roboto"/>
                <a:cs typeface="Roboto"/>
                <a:sym typeface="Roboto"/>
              </a:rPr>
              <a:t>(fotegui@mxa.com.uy)</a:t>
            </a:r>
          </a:p>
          <a:p>
            <a:pPr algn="just">
              <a:lnSpc>
                <a:spcPts val="1679"/>
              </a:lnSpc>
            </a:pPr>
          </a:p>
          <a:p>
            <a:pPr algn="just">
              <a:lnSpc>
                <a:spcPts val="1679"/>
              </a:lnSpc>
            </a:pPr>
          </a:p>
          <a:p>
            <a:pPr algn="just">
              <a:lnSpc>
                <a:spcPts val="1679"/>
              </a:lnSpc>
            </a:pPr>
            <a:r>
              <a:rPr lang="en-US" sz="1200">
                <a:solidFill>
                  <a:srgbClr val="000000"/>
                </a:solidFill>
                <a:latin typeface="Roboto"/>
                <a:ea typeface="Roboto"/>
                <a:cs typeface="Roboto"/>
                <a:sym typeface="Roboto"/>
              </a:rPr>
              <a:t>Aceptando los términos establecidos precedentemente y en el Anexo “Términos y Condiciones" adjunto (que forma parte integrante de la propuesta que nos enviaran) y como constancia de conformidad, se suscribe la presente</a:t>
            </a:r>
          </a:p>
          <a:p>
            <a:pPr algn="just">
              <a:lnSpc>
                <a:spcPts val="1679"/>
              </a:lnSpc>
            </a:pPr>
            <a:r>
              <a:rPr lang="en-US" sz="1200">
                <a:solidFill>
                  <a:srgbClr val="000000"/>
                </a:solidFill>
                <a:latin typeface="Roboto"/>
                <a:ea typeface="Roboto"/>
                <a:cs typeface="Roboto"/>
                <a:sym typeface="Roboto"/>
              </a:rPr>
              <a:t>a los ____ días del mes ___________ de 2025.</a:t>
            </a:r>
          </a:p>
          <a:p>
            <a:pPr algn="just">
              <a:lnSpc>
                <a:spcPts val="1709"/>
              </a:lnSpc>
            </a:pPr>
          </a:p>
          <a:p>
            <a:pPr algn="just">
              <a:lnSpc>
                <a:spcPts val="1709"/>
              </a:lnSpc>
            </a:pPr>
          </a:p>
        </p:txBody>
      </p:sp>
      <p:grpSp>
        <p:nvGrpSpPr>
          <p:cNvPr name="Group 6" id="6"/>
          <p:cNvGrpSpPr/>
          <p:nvPr/>
        </p:nvGrpSpPr>
        <p:grpSpPr>
          <a:xfrm rot="0">
            <a:off x="0" y="10278452"/>
            <a:ext cx="7560000" cy="413548"/>
            <a:chOff x="0" y="0"/>
            <a:chExt cx="8576120" cy="469132"/>
          </a:xfrm>
        </p:grpSpPr>
        <p:sp>
          <p:nvSpPr>
            <p:cNvPr name="Freeform 7" id="7"/>
            <p:cNvSpPr/>
            <p:nvPr/>
          </p:nvSpPr>
          <p:spPr>
            <a:xfrm flipH="false" flipV="false" rot="0">
              <a:off x="0" y="0"/>
              <a:ext cx="8576120" cy="469132"/>
            </a:xfrm>
            <a:custGeom>
              <a:avLst/>
              <a:gdLst/>
              <a:ahLst/>
              <a:cxnLst/>
              <a:rect r="r" b="b" t="t" l="l"/>
              <a:pathLst>
                <a:path h="469132" w="8576120">
                  <a:moveTo>
                    <a:pt x="0" y="0"/>
                  </a:moveTo>
                  <a:lnTo>
                    <a:pt x="8576120" y="0"/>
                  </a:lnTo>
                  <a:lnTo>
                    <a:pt x="8576120" y="469132"/>
                  </a:lnTo>
                  <a:lnTo>
                    <a:pt x="0" y="469132"/>
                  </a:lnTo>
                  <a:close/>
                </a:path>
              </a:pathLst>
            </a:custGeom>
            <a:solidFill>
              <a:srgbClr val="FAF6F1"/>
            </a:solidFill>
          </p:spPr>
        </p:sp>
        <p:sp>
          <p:nvSpPr>
            <p:cNvPr name="TextBox 8" id="8"/>
            <p:cNvSpPr txBox="true"/>
            <p:nvPr/>
          </p:nvSpPr>
          <p:spPr>
            <a:xfrm>
              <a:off x="0" y="-19050"/>
              <a:ext cx="8576120" cy="488182"/>
            </a:xfrm>
            <a:prstGeom prst="rect">
              <a:avLst/>
            </a:prstGeom>
          </p:spPr>
          <p:txBody>
            <a:bodyPr anchor="ctr" rtlCol="false" tIns="43486" lIns="43486" bIns="43486" rIns="43486"/>
            <a:lstStyle/>
            <a:p>
              <a:pPr algn="ctr">
                <a:lnSpc>
                  <a:spcPts val="599"/>
                </a:lnSpc>
              </a:pPr>
            </a:p>
          </p:txBody>
        </p:sp>
      </p:grpSp>
      <p:grpSp>
        <p:nvGrpSpPr>
          <p:cNvPr name="Group 9" id="9"/>
          <p:cNvGrpSpPr/>
          <p:nvPr/>
        </p:nvGrpSpPr>
        <p:grpSpPr>
          <a:xfrm rot="0">
            <a:off x="362278" y="10424181"/>
            <a:ext cx="6873841" cy="153289"/>
            <a:chOff x="0" y="0"/>
            <a:chExt cx="9165122" cy="204386"/>
          </a:xfrm>
        </p:grpSpPr>
        <p:sp>
          <p:nvSpPr>
            <p:cNvPr name="TextBox 10" id="10"/>
            <p:cNvSpPr txBox="true"/>
            <p:nvPr/>
          </p:nvSpPr>
          <p:spPr>
            <a:xfrm rot="0">
              <a:off x="0" y="-28575"/>
              <a:ext cx="1215409" cy="232961"/>
            </a:xfrm>
            <a:prstGeom prst="rect">
              <a:avLst/>
            </a:prstGeom>
          </p:spPr>
          <p:txBody>
            <a:bodyPr anchor="t" rtlCol="false" tIns="0" lIns="0" bIns="0" rIns="0">
              <a:spAutoFit/>
            </a:bodyPr>
            <a:lstStyle/>
            <a:p>
              <a:pPr algn="ctr">
                <a:lnSpc>
                  <a:spcPts val="1438"/>
                </a:lnSpc>
                <a:spcBef>
                  <a:spcPct val="0"/>
                </a:spcBef>
              </a:pPr>
              <a:r>
                <a:rPr lang="en-US" sz="1027" spc="159">
                  <a:solidFill>
                    <a:srgbClr val="282828"/>
                  </a:solidFill>
                  <a:latin typeface="Roboto"/>
                  <a:ea typeface="Roboto"/>
                  <a:cs typeface="Roboto"/>
                  <a:sym typeface="Roboto"/>
                </a:rPr>
                <a:t>mxa.com.uy</a:t>
              </a:r>
            </a:p>
          </p:txBody>
        </p:sp>
        <p:sp>
          <p:nvSpPr>
            <p:cNvPr name="TextBox 11" id="11"/>
            <p:cNvSpPr txBox="true"/>
            <p:nvPr/>
          </p:nvSpPr>
          <p:spPr>
            <a:xfrm rot="0">
              <a:off x="3639027" y="3419"/>
              <a:ext cx="2146364" cy="183331"/>
            </a:xfrm>
            <a:prstGeom prst="rect">
              <a:avLst/>
            </a:prstGeom>
          </p:spPr>
          <p:txBody>
            <a:bodyPr anchor="t" rtlCol="false" tIns="0" lIns="0" bIns="0" rIns="0">
              <a:spAutoFit/>
            </a:bodyPr>
            <a:lstStyle/>
            <a:p>
              <a:pPr algn="ctr">
                <a:lnSpc>
                  <a:spcPts val="1198"/>
                </a:lnSpc>
              </a:pPr>
              <a:r>
                <a:rPr lang="en-US" sz="856" spc="56">
                  <a:solidFill>
                    <a:srgbClr val="282828"/>
                  </a:solidFill>
                  <a:latin typeface="Roboto"/>
                  <a:ea typeface="Roboto"/>
                  <a:cs typeface="Roboto"/>
                  <a:sym typeface="Roboto"/>
                </a:rPr>
                <a:t>Bvr. Gral. Artigas 417 piso 7     </a:t>
              </a:r>
            </a:p>
          </p:txBody>
        </p:sp>
        <p:sp>
          <p:nvSpPr>
            <p:cNvPr name="TextBox 12" id="12"/>
            <p:cNvSpPr txBox="true"/>
            <p:nvPr/>
          </p:nvSpPr>
          <p:spPr>
            <a:xfrm rot="0">
              <a:off x="7486068" y="1002"/>
              <a:ext cx="1679054" cy="183331"/>
            </a:xfrm>
            <a:prstGeom prst="rect">
              <a:avLst/>
            </a:prstGeom>
          </p:spPr>
          <p:txBody>
            <a:bodyPr anchor="t" rtlCol="false" tIns="0" lIns="0" bIns="0" rIns="0">
              <a:spAutoFit/>
            </a:bodyPr>
            <a:lstStyle/>
            <a:p>
              <a:pPr algn="r">
                <a:lnSpc>
                  <a:spcPts val="1198"/>
                </a:lnSpc>
              </a:pPr>
              <a:r>
                <a:rPr lang="en-US" sz="856" spc="56">
                  <a:solidFill>
                    <a:srgbClr val="282828"/>
                  </a:solidFill>
                  <a:latin typeface="Roboto"/>
                  <a:ea typeface="Roboto"/>
                  <a:cs typeface="Roboto"/>
                  <a:sym typeface="Roboto"/>
                </a:rPr>
                <a:t>  </a:t>
              </a:r>
              <a:r>
                <a:rPr lang="en-US" sz="856" spc="56">
                  <a:solidFill>
                    <a:srgbClr val="282828"/>
                  </a:solidFill>
                  <a:latin typeface="Roboto"/>
                  <a:ea typeface="Roboto"/>
                  <a:cs typeface="Roboto"/>
                  <a:sym typeface="Roboto"/>
                </a:rPr>
                <a:t>Montevideo, Uruguay</a:t>
              </a:r>
            </a:p>
          </p:txBody>
        </p:sp>
        <p:sp>
          <p:nvSpPr>
            <p:cNvPr name="TextBox 13" id="13"/>
            <p:cNvSpPr txBox="true"/>
            <p:nvPr/>
          </p:nvSpPr>
          <p:spPr>
            <a:xfrm rot="0">
              <a:off x="6013218" y="1002"/>
              <a:ext cx="1378609" cy="183331"/>
            </a:xfrm>
            <a:prstGeom prst="rect">
              <a:avLst/>
            </a:prstGeom>
          </p:spPr>
          <p:txBody>
            <a:bodyPr anchor="t" rtlCol="false" tIns="0" lIns="0" bIns="0" rIns="0">
              <a:spAutoFit/>
            </a:bodyPr>
            <a:lstStyle/>
            <a:p>
              <a:pPr algn="ctr">
                <a:lnSpc>
                  <a:spcPts val="1198"/>
                </a:lnSpc>
              </a:pPr>
              <a:r>
                <a:rPr lang="en-US" sz="856" spc="56">
                  <a:solidFill>
                    <a:srgbClr val="282828"/>
                  </a:solidFill>
                  <a:latin typeface="Roboto"/>
                  <a:ea typeface="Roboto"/>
                  <a:cs typeface="Roboto"/>
                  <a:sym typeface="Roboto"/>
                </a:rPr>
                <a:t>Punta Carretas</a:t>
              </a:r>
            </a:p>
          </p:txBody>
        </p:sp>
        <p:sp>
          <p:nvSpPr>
            <p:cNvPr name="TextBox 14" id="14"/>
            <p:cNvSpPr txBox="true"/>
            <p:nvPr/>
          </p:nvSpPr>
          <p:spPr>
            <a:xfrm rot="0">
              <a:off x="1747465" y="1002"/>
              <a:ext cx="1508433" cy="185748"/>
            </a:xfrm>
            <a:prstGeom prst="rect">
              <a:avLst/>
            </a:prstGeom>
          </p:spPr>
          <p:txBody>
            <a:bodyPr anchor="t" rtlCol="false" tIns="0" lIns="0" bIns="0" rIns="0">
              <a:spAutoFit/>
            </a:bodyPr>
            <a:lstStyle/>
            <a:p>
              <a:pPr algn="ctr">
                <a:lnSpc>
                  <a:spcPts val="1198"/>
                </a:lnSpc>
                <a:spcBef>
                  <a:spcPct val="0"/>
                </a:spcBef>
              </a:pPr>
              <a:r>
                <a:rPr lang="en-US" sz="856" spc="132">
                  <a:solidFill>
                    <a:srgbClr val="282828"/>
                  </a:solidFill>
                  <a:latin typeface="Roboto"/>
                  <a:ea typeface="Roboto"/>
                  <a:cs typeface="Roboto"/>
                  <a:sym typeface="Roboto"/>
                </a:rPr>
                <a:t>(+598) 2712 6550</a:t>
              </a:r>
            </a:p>
          </p:txBody>
        </p:sp>
      </p:grpSp>
      <p:sp>
        <p:nvSpPr>
          <p:cNvPr name="Freeform 15" id="15"/>
          <p:cNvSpPr/>
          <p:nvPr/>
        </p:nvSpPr>
        <p:spPr>
          <a:xfrm flipH="false" flipV="false" rot="0">
            <a:off x="756000" y="5478621"/>
            <a:ext cx="1082082" cy="667037"/>
          </a:xfrm>
          <a:custGeom>
            <a:avLst/>
            <a:gdLst/>
            <a:ahLst/>
            <a:cxnLst/>
            <a:rect r="r" b="b" t="t" l="l"/>
            <a:pathLst>
              <a:path h="667037" w="1082082">
                <a:moveTo>
                  <a:pt x="0" y="0"/>
                </a:moveTo>
                <a:lnTo>
                  <a:pt x="1082082" y="0"/>
                </a:lnTo>
                <a:lnTo>
                  <a:pt x="1082082" y="667037"/>
                </a:lnTo>
                <a:lnTo>
                  <a:pt x="0" y="667037"/>
                </a:lnTo>
                <a:lnTo>
                  <a:pt x="0" y="0"/>
                </a:lnTo>
                <a:close/>
              </a:path>
            </a:pathLst>
          </a:custGeom>
          <a:blipFill>
            <a:blip r:embed="rId3"/>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20000" y="1495739"/>
            <a:ext cx="2350508" cy="285750"/>
          </a:xfrm>
          <a:prstGeom prst="rect">
            <a:avLst/>
          </a:prstGeom>
        </p:spPr>
        <p:txBody>
          <a:bodyPr anchor="t" rtlCol="false" tIns="0" lIns="0" bIns="0" rIns="0">
            <a:spAutoFit/>
          </a:bodyPr>
          <a:lstStyle/>
          <a:p>
            <a:pPr algn="l" marL="0" indent="0" lvl="0">
              <a:lnSpc>
                <a:spcPts val="2100"/>
              </a:lnSpc>
              <a:spcBef>
                <a:spcPct val="0"/>
              </a:spcBef>
            </a:pPr>
            <a:r>
              <a:rPr lang="en-US" b="true" sz="1500">
                <a:solidFill>
                  <a:srgbClr val="C9B8A7"/>
                </a:solidFill>
                <a:latin typeface="Ubuntu Bold"/>
                <a:ea typeface="Ubuntu Bold"/>
                <a:cs typeface="Ubuntu Bold"/>
                <a:sym typeface="Ubuntu Bold"/>
              </a:rPr>
              <a:t>ANTECEDENTES</a:t>
            </a:r>
          </a:p>
        </p:txBody>
      </p:sp>
      <p:sp>
        <p:nvSpPr>
          <p:cNvPr name="TextBox 3" id="3"/>
          <p:cNvSpPr txBox="true"/>
          <p:nvPr/>
        </p:nvSpPr>
        <p:spPr>
          <a:xfrm rot="0">
            <a:off x="720000" y="2437305"/>
            <a:ext cx="6120000" cy="2512695"/>
          </a:xfrm>
          <a:prstGeom prst="rect">
            <a:avLst/>
          </a:prstGeom>
        </p:spPr>
        <p:txBody>
          <a:bodyPr anchor="t" rtlCol="false" tIns="0" lIns="0" bIns="0" rIns="0">
            <a:spAutoFit/>
          </a:bodyPr>
          <a:lstStyle/>
          <a:p>
            <a:pPr algn="just">
              <a:lnSpc>
                <a:spcPts val="1679"/>
              </a:lnSpc>
            </a:pPr>
            <a:r>
              <a:rPr lang="en-US" sz="1200">
                <a:solidFill>
                  <a:srgbClr val="000000"/>
                </a:solidFill>
                <a:latin typeface="Roboto"/>
                <a:ea typeface="Roboto"/>
                <a:cs typeface="Roboto"/>
                <a:sym typeface="Roboto"/>
              </a:rPr>
              <a:t>Martín Rama es una persona física, de nacionalidad uruguaya y se encuentra casado, siendo su esposa de nacionalidad francesa. En instancias anteriores, ha requerido el apoyo de MXA para gestionar su propio certificado de residencia fiscal en Uruguay, en base al centro de intereses económicos.</a:t>
            </a:r>
          </a:p>
          <a:p>
            <a:pPr algn="just">
              <a:lnSpc>
                <a:spcPts val="1679"/>
              </a:lnSpc>
            </a:pPr>
          </a:p>
          <a:p>
            <a:pPr algn="just">
              <a:lnSpc>
                <a:spcPts val="1679"/>
              </a:lnSpc>
            </a:pPr>
            <a:r>
              <a:rPr lang="en-US" sz="1200">
                <a:solidFill>
                  <a:srgbClr val="000000"/>
                </a:solidFill>
                <a:latin typeface="Roboto"/>
                <a:ea typeface="Roboto"/>
                <a:cs typeface="Roboto"/>
                <a:sym typeface="Roboto"/>
              </a:rPr>
              <a:t>En esta ocasión, según nos ha sido transmitido, se pretende solicitar nuevamente el apoyo de MXA, esta vez para obtener el certificado de residencia fiscal uruguayo para su cónyuge, así como asesoramiento respecto a las implicancias fiscales derivadas de dicha residencia, tanto a nivel nacional como internacional.</a:t>
            </a:r>
          </a:p>
          <a:p>
            <a:pPr algn="just">
              <a:lnSpc>
                <a:spcPts val="1679"/>
              </a:lnSpc>
            </a:pPr>
          </a:p>
          <a:p>
            <a:pPr algn="just">
              <a:lnSpc>
                <a:spcPts val="1679"/>
              </a:lnSpc>
            </a:pPr>
          </a:p>
          <a:p>
            <a:pPr algn="just">
              <a:lnSpc>
                <a:spcPts val="1679"/>
              </a:lnSpc>
            </a:pPr>
          </a:p>
        </p:txBody>
      </p:sp>
      <p:sp>
        <p:nvSpPr>
          <p:cNvPr name="Freeform 4" id="4"/>
          <p:cNvSpPr/>
          <p:nvPr/>
        </p:nvSpPr>
        <p:spPr>
          <a:xfrm flipH="false" flipV="false" rot="0">
            <a:off x="6156092" y="521900"/>
            <a:ext cx="1006014" cy="468201"/>
          </a:xfrm>
          <a:custGeom>
            <a:avLst/>
            <a:gdLst/>
            <a:ahLst/>
            <a:cxnLst/>
            <a:rect r="r" b="b" t="t" l="l"/>
            <a:pathLst>
              <a:path h="468201" w="1006014">
                <a:moveTo>
                  <a:pt x="0" y="0"/>
                </a:moveTo>
                <a:lnTo>
                  <a:pt x="1006014" y="0"/>
                </a:lnTo>
                <a:lnTo>
                  <a:pt x="1006014" y="468200"/>
                </a:lnTo>
                <a:lnTo>
                  <a:pt x="0" y="468200"/>
                </a:lnTo>
                <a:lnTo>
                  <a:pt x="0" y="0"/>
                </a:lnTo>
                <a:close/>
              </a:path>
            </a:pathLst>
          </a:custGeom>
          <a:blipFill>
            <a:blip r:embed="rId2"/>
            <a:stretch>
              <a:fillRect l="0" t="0" r="0" b="0"/>
            </a:stretch>
          </a:blipFill>
        </p:spPr>
      </p:sp>
      <p:grpSp>
        <p:nvGrpSpPr>
          <p:cNvPr name="Group 5" id="5"/>
          <p:cNvGrpSpPr/>
          <p:nvPr/>
        </p:nvGrpSpPr>
        <p:grpSpPr>
          <a:xfrm rot="0">
            <a:off x="0" y="10278452"/>
            <a:ext cx="7560000" cy="413548"/>
            <a:chOff x="0" y="0"/>
            <a:chExt cx="8576120" cy="469132"/>
          </a:xfrm>
        </p:grpSpPr>
        <p:sp>
          <p:nvSpPr>
            <p:cNvPr name="Freeform 6" id="6"/>
            <p:cNvSpPr/>
            <p:nvPr/>
          </p:nvSpPr>
          <p:spPr>
            <a:xfrm flipH="false" flipV="false" rot="0">
              <a:off x="0" y="0"/>
              <a:ext cx="8576120" cy="469132"/>
            </a:xfrm>
            <a:custGeom>
              <a:avLst/>
              <a:gdLst/>
              <a:ahLst/>
              <a:cxnLst/>
              <a:rect r="r" b="b" t="t" l="l"/>
              <a:pathLst>
                <a:path h="469132" w="8576120">
                  <a:moveTo>
                    <a:pt x="0" y="0"/>
                  </a:moveTo>
                  <a:lnTo>
                    <a:pt x="8576120" y="0"/>
                  </a:lnTo>
                  <a:lnTo>
                    <a:pt x="8576120" y="469132"/>
                  </a:lnTo>
                  <a:lnTo>
                    <a:pt x="0" y="469132"/>
                  </a:lnTo>
                  <a:close/>
                </a:path>
              </a:pathLst>
            </a:custGeom>
            <a:solidFill>
              <a:srgbClr val="FAF6F1"/>
            </a:solidFill>
          </p:spPr>
        </p:sp>
        <p:sp>
          <p:nvSpPr>
            <p:cNvPr name="TextBox 7" id="7"/>
            <p:cNvSpPr txBox="true"/>
            <p:nvPr/>
          </p:nvSpPr>
          <p:spPr>
            <a:xfrm>
              <a:off x="0" y="-19050"/>
              <a:ext cx="8576120" cy="488182"/>
            </a:xfrm>
            <a:prstGeom prst="rect">
              <a:avLst/>
            </a:prstGeom>
          </p:spPr>
          <p:txBody>
            <a:bodyPr anchor="ctr" rtlCol="false" tIns="43486" lIns="43486" bIns="43486" rIns="43486"/>
            <a:lstStyle/>
            <a:p>
              <a:pPr algn="ctr">
                <a:lnSpc>
                  <a:spcPts val="599"/>
                </a:lnSpc>
              </a:pPr>
            </a:p>
          </p:txBody>
        </p:sp>
      </p:grpSp>
      <p:grpSp>
        <p:nvGrpSpPr>
          <p:cNvPr name="Group 8" id="8"/>
          <p:cNvGrpSpPr/>
          <p:nvPr/>
        </p:nvGrpSpPr>
        <p:grpSpPr>
          <a:xfrm rot="0">
            <a:off x="362278" y="10424181"/>
            <a:ext cx="6873841" cy="153289"/>
            <a:chOff x="0" y="0"/>
            <a:chExt cx="9165122" cy="204386"/>
          </a:xfrm>
        </p:grpSpPr>
        <p:sp>
          <p:nvSpPr>
            <p:cNvPr name="TextBox 9" id="9"/>
            <p:cNvSpPr txBox="true"/>
            <p:nvPr/>
          </p:nvSpPr>
          <p:spPr>
            <a:xfrm rot="0">
              <a:off x="0" y="-28575"/>
              <a:ext cx="1215409" cy="232961"/>
            </a:xfrm>
            <a:prstGeom prst="rect">
              <a:avLst/>
            </a:prstGeom>
          </p:spPr>
          <p:txBody>
            <a:bodyPr anchor="t" rtlCol="false" tIns="0" lIns="0" bIns="0" rIns="0">
              <a:spAutoFit/>
            </a:bodyPr>
            <a:lstStyle/>
            <a:p>
              <a:pPr algn="ctr">
                <a:lnSpc>
                  <a:spcPts val="1438"/>
                </a:lnSpc>
                <a:spcBef>
                  <a:spcPct val="0"/>
                </a:spcBef>
              </a:pPr>
              <a:r>
                <a:rPr lang="en-US" sz="1027" spc="159">
                  <a:solidFill>
                    <a:srgbClr val="282828"/>
                  </a:solidFill>
                  <a:latin typeface="Roboto"/>
                  <a:ea typeface="Roboto"/>
                  <a:cs typeface="Roboto"/>
                  <a:sym typeface="Roboto"/>
                </a:rPr>
                <a:t>mxa.com.uy</a:t>
              </a:r>
            </a:p>
          </p:txBody>
        </p:sp>
        <p:sp>
          <p:nvSpPr>
            <p:cNvPr name="TextBox 10" id="10"/>
            <p:cNvSpPr txBox="true"/>
            <p:nvPr/>
          </p:nvSpPr>
          <p:spPr>
            <a:xfrm rot="0">
              <a:off x="3639027" y="3419"/>
              <a:ext cx="2146364" cy="183331"/>
            </a:xfrm>
            <a:prstGeom prst="rect">
              <a:avLst/>
            </a:prstGeom>
          </p:spPr>
          <p:txBody>
            <a:bodyPr anchor="t" rtlCol="false" tIns="0" lIns="0" bIns="0" rIns="0">
              <a:spAutoFit/>
            </a:bodyPr>
            <a:lstStyle/>
            <a:p>
              <a:pPr algn="ctr">
                <a:lnSpc>
                  <a:spcPts val="1198"/>
                </a:lnSpc>
              </a:pPr>
              <a:r>
                <a:rPr lang="en-US" sz="856" spc="56">
                  <a:solidFill>
                    <a:srgbClr val="282828"/>
                  </a:solidFill>
                  <a:latin typeface="Roboto"/>
                  <a:ea typeface="Roboto"/>
                  <a:cs typeface="Roboto"/>
                  <a:sym typeface="Roboto"/>
                </a:rPr>
                <a:t>Bvr. Gral. Artigas 417 piso 7     </a:t>
              </a:r>
            </a:p>
          </p:txBody>
        </p:sp>
        <p:sp>
          <p:nvSpPr>
            <p:cNvPr name="TextBox 11" id="11"/>
            <p:cNvSpPr txBox="true"/>
            <p:nvPr/>
          </p:nvSpPr>
          <p:spPr>
            <a:xfrm rot="0">
              <a:off x="7486068" y="1002"/>
              <a:ext cx="1679054" cy="183331"/>
            </a:xfrm>
            <a:prstGeom prst="rect">
              <a:avLst/>
            </a:prstGeom>
          </p:spPr>
          <p:txBody>
            <a:bodyPr anchor="t" rtlCol="false" tIns="0" lIns="0" bIns="0" rIns="0">
              <a:spAutoFit/>
            </a:bodyPr>
            <a:lstStyle/>
            <a:p>
              <a:pPr algn="r">
                <a:lnSpc>
                  <a:spcPts val="1198"/>
                </a:lnSpc>
              </a:pPr>
              <a:r>
                <a:rPr lang="en-US" sz="856" spc="56">
                  <a:solidFill>
                    <a:srgbClr val="282828"/>
                  </a:solidFill>
                  <a:latin typeface="Roboto"/>
                  <a:ea typeface="Roboto"/>
                  <a:cs typeface="Roboto"/>
                  <a:sym typeface="Roboto"/>
                </a:rPr>
                <a:t>  </a:t>
              </a:r>
              <a:r>
                <a:rPr lang="en-US" sz="856" spc="56">
                  <a:solidFill>
                    <a:srgbClr val="282828"/>
                  </a:solidFill>
                  <a:latin typeface="Roboto"/>
                  <a:ea typeface="Roboto"/>
                  <a:cs typeface="Roboto"/>
                  <a:sym typeface="Roboto"/>
                </a:rPr>
                <a:t>Montevideo, Uruguay</a:t>
              </a:r>
            </a:p>
          </p:txBody>
        </p:sp>
        <p:sp>
          <p:nvSpPr>
            <p:cNvPr name="TextBox 12" id="12"/>
            <p:cNvSpPr txBox="true"/>
            <p:nvPr/>
          </p:nvSpPr>
          <p:spPr>
            <a:xfrm rot="0">
              <a:off x="6013218" y="1002"/>
              <a:ext cx="1378609" cy="183331"/>
            </a:xfrm>
            <a:prstGeom prst="rect">
              <a:avLst/>
            </a:prstGeom>
          </p:spPr>
          <p:txBody>
            <a:bodyPr anchor="t" rtlCol="false" tIns="0" lIns="0" bIns="0" rIns="0">
              <a:spAutoFit/>
            </a:bodyPr>
            <a:lstStyle/>
            <a:p>
              <a:pPr algn="ctr">
                <a:lnSpc>
                  <a:spcPts val="1198"/>
                </a:lnSpc>
              </a:pPr>
              <a:r>
                <a:rPr lang="en-US" sz="856" spc="56">
                  <a:solidFill>
                    <a:srgbClr val="282828"/>
                  </a:solidFill>
                  <a:latin typeface="Roboto"/>
                  <a:ea typeface="Roboto"/>
                  <a:cs typeface="Roboto"/>
                  <a:sym typeface="Roboto"/>
                </a:rPr>
                <a:t>Punta Carretas</a:t>
              </a:r>
            </a:p>
          </p:txBody>
        </p:sp>
        <p:sp>
          <p:nvSpPr>
            <p:cNvPr name="TextBox 13" id="13"/>
            <p:cNvSpPr txBox="true"/>
            <p:nvPr/>
          </p:nvSpPr>
          <p:spPr>
            <a:xfrm rot="0">
              <a:off x="1747465" y="1002"/>
              <a:ext cx="1508433" cy="185748"/>
            </a:xfrm>
            <a:prstGeom prst="rect">
              <a:avLst/>
            </a:prstGeom>
          </p:spPr>
          <p:txBody>
            <a:bodyPr anchor="t" rtlCol="false" tIns="0" lIns="0" bIns="0" rIns="0">
              <a:spAutoFit/>
            </a:bodyPr>
            <a:lstStyle/>
            <a:p>
              <a:pPr algn="ctr">
                <a:lnSpc>
                  <a:spcPts val="1198"/>
                </a:lnSpc>
                <a:spcBef>
                  <a:spcPct val="0"/>
                </a:spcBef>
              </a:pPr>
              <a:r>
                <a:rPr lang="en-US" sz="856" spc="132">
                  <a:solidFill>
                    <a:srgbClr val="282828"/>
                  </a:solidFill>
                  <a:latin typeface="Roboto"/>
                  <a:ea typeface="Roboto"/>
                  <a:cs typeface="Roboto"/>
                  <a:sym typeface="Roboto"/>
                </a:rPr>
                <a:t>(+598) 2712 6550</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156092" y="521900"/>
            <a:ext cx="1006014" cy="468201"/>
          </a:xfrm>
          <a:custGeom>
            <a:avLst/>
            <a:gdLst/>
            <a:ahLst/>
            <a:cxnLst/>
            <a:rect r="r" b="b" t="t" l="l"/>
            <a:pathLst>
              <a:path h="468201" w="1006014">
                <a:moveTo>
                  <a:pt x="0" y="0"/>
                </a:moveTo>
                <a:lnTo>
                  <a:pt x="1006014" y="0"/>
                </a:lnTo>
                <a:lnTo>
                  <a:pt x="1006014" y="468200"/>
                </a:lnTo>
                <a:lnTo>
                  <a:pt x="0" y="468200"/>
                </a:lnTo>
                <a:lnTo>
                  <a:pt x="0" y="0"/>
                </a:lnTo>
                <a:close/>
              </a:path>
            </a:pathLst>
          </a:custGeom>
          <a:blipFill>
            <a:blip r:embed="rId2"/>
            <a:stretch>
              <a:fillRect l="0" t="0" r="0" b="0"/>
            </a:stretch>
          </a:blipFill>
        </p:spPr>
      </p:sp>
      <p:grpSp>
        <p:nvGrpSpPr>
          <p:cNvPr name="Group 3" id="3"/>
          <p:cNvGrpSpPr/>
          <p:nvPr/>
        </p:nvGrpSpPr>
        <p:grpSpPr>
          <a:xfrm rot="0">
            <a:off x="0" y="10278452"/>
            <a:ext cx="7560000" cy="413548"/>
            <a:chOff x="0" y="0"/>
            <a:chExt cx="8576120" cy="469132"/>
          </a:xfrm>
        </p:grpSpPr>
        <p:sp>
          <p:nvSpPr>
            <p:cNvPr name="Freeform 4" id="4"/>
            <p:cNvSpPr/>
            <p:nvPr/>
          </p:nvSpPr>
          <p:spPr>
            <a:xfrm flipH="false" flipV="false" rot="0">
              <a:off x="0" y="0"/>
              <a:ext cx="8576120" cy="469132"/>
            </a:xfrm>
            <a:custGeom>
              <a:avLst/>
              <a:gdLst/>
              <a:ahLst/>
              <a:cxnLst/>
              <a:rect r="r" b="b" t="t" l="l"/>
              <a:pathLst>
                <a:path h="469132" w="8576120">
                  <a:moveTo>
                    <a:pt x="0" y="0"/>
                  </a:moveTo>
                  <a:lnTo>
                    <a:pt x="8576120" y="0"/>
                  </a:lnTo>
                  <a:lnTo>
                    <a:pt x="8576120" y="469132"/>
                  </a:lnTo>
                  <a:lnTo>
                    <a:pt x="0" y="469132"/>
                  </a:lnTo>
                  <a:close/>
                </a:path>
              </a:pathLst>
            </a:custGeom>
            <a:solidFill>
              <a:srgbClr val="FAF6F1"/>
            </a:solidFill>
          </p:spPr>
        </p:sp>
        <p:sp>
          <p:nvSpPr>
            <p:cNvPr name="TextBox 5" id="5"/>
            <p:cNvSpPr txBox="true"/>
            <p:nvPr/>
          </p:nvSpPr>
          <p:spPr>
            <a:xfrm>
              <a:off x="0" y="-19050"/>
              <a:ext cx="8576120" cy="488182"/>
            </a:xfrm>
            <a:prstGeom prst="rect">
              <a:avLst/>
            </a:prstGeom>
          </p:spPr>
          <p:txBody>
            <a:bodyPr anchor="ctr" rtlCol="false" tIns="43486" lIns="43486" bIns="43486" rIns="43486"/>
            <a:lstStyle/>
            <a:p>
              <a:pPr algn="ctr">
                <a:lnSpc>
                  <a:spcPts val="599"/>
                </a:lnSpc>
              </a:pPr>
            </a:p>
          </p:txBody>
        </p:sp>
      </p:grpSp>
      <p:grpSp>
        <p:nvGrpSpPr>
          <p:cNvPr name="Group 6" id="6"/>
          <p:cNvGrpSpPr/>
          <p:nvPr/>
        </p:nvGrpSpPr>
        <p:grpSpPr>
          <a:xfrm rot="0">
            <a:off x="362278" y="10424181"/>
            <a:ext cx="6873841" cy="153289"/>
            <a:chOff x="0" y="0"/>
            <a:chExt cx="9165122" cy="204386"/>
          </a:xfrm>
        </p:grpSpPr>
        <p:sp>
          <p:nvSpPr>
            <p:cNvPr name="TextBox 7" id="7"/>
            <p:cNvSpPr txBox="true"/>
            <p:nvPr/>
          </p:nvSpPr>
          <p:spPr>
            <a:xfrm rot="0">
              <a:off x="0" y="-28575"/>
              <a:ext cx="1215409" cy="232961"/>
            </a:xfrm>
            <a:prstGeom prst="rect">
              <a:avLst/>
            </a:prstGeom>
          </p:spPr>
          <p:txBody>
            <a:bodyPr anchor="t" rtlCol="false" tIns="0" lIns="0" bIns="0" rIns="0">
              <a:spAutoFit/>
            </a:bodyPr>
            <a:lstStyle/>
            <a:p>
              <a:pPr algn="ctr">
                <a:lnSpc>
                  <a:spcPts val="1438"/>
                </a:lnSpc>
                <a:spcBef>
                  <a:spcPct val="0"/>
                </a:spcBef>
              </a:pPr>
              <a:r>
                <a:rPr lang="en-US" sz="1027" spc="159">
                  <a:solidFill>
                    <a:srgbClr val="282828"/>
                  </a:solidFill>
                  <a:latin typeface="Roboto"/>
                  <a:ea typeface="Roboto"/>
                  <a:cs typeface="Roboto"/>
                  <a:sym typeface="Roboto"/>
                </a:rPr>
                <a:t>mxa.com.uy</a:t>
              </a:r>
            </a:p>
          </p:txBody>
        </p:sp>
        <p:sp>
          <p:nvSpPr>
            <p:cNvPr name="TextBox 8" id="8"/>
            <p:cNvSpPr txBox="true"/>
            <p:nvPr/>
          </p:nvSpPr>
          <p:spPr>
            <a:xfrm rot="0">
              <a:off x="3639027" y="3419"/>
              <a:ext cx="2146364" cy="183331"/>
            </a:xfrm>
            <a:prstGeom prst="rect">
              <a:avLst/>
            </a:prstGeom>
          </p:spPr>
          <p:txBody>
            <a:bodyPr anchor="t" rtlCol="false" tIns="0" lIns="0" bIns="0" rIns="0">
              <a:spAutoFit/>
            </a:bodyPr>
            <a:lstStyle/>
            <a:p>
              <a:pPr algn="ctr">
                <a:lnSpc>
                  <a:spcPts val="1198"/>
                </a:lnSpc>
              </a:pPr>
              <a:r>
                <a:rPr lang="en-US" sz="856" spc="56">
                  <a:solidFill>
                    <a:srgbClr val="282828"/>
                  </a:solidFill>
                  <a:latin typeface="Roboto"/>
                  <a:ea typeface="Roboto"/>
                  <a:cs typeface="Roboto"/>
                  <a:sym typeface="Roboto"/>
                </a:rPr>
                <a:t>Bvr. Gral. Artigas 417 piso 7     </a:t>
              </a:r>
            </a:p>
          </p:txBody>
        </p:sp>
        <p:sp>
          <p:nvSpPr>
            <p:cNvPr name="TextBox 9" id="9"/>
            <p:cNvSpPr txBox="true"/>
            <p:nvPr/>
          </p:nvSpPr>
          <p:spPr>
            <a:xfrm rot="0">
              <a:off x="7486068" y="1002"/>
              <a:ext cx="1679054" cy="183331"/>
            </a:xfrm>
            <a:prstGeom prst="rect">
              <a:avLst/>
            </a:prstGeom>
          </p:spPr>
          <p:txBody>
            <a:bodyPr anchor="t" rtlCol="false" tIns="0" lIns="0" bIns="0" rIns="0">
              <a:spAutoFit/>
            </a:bodyPr>
            <a:lstStyle/>
            <a:p>
              <a:pPr algn="r">
                <a:lnSpc>
                  <a:spcPts val="1198"/>
                </a:lnSpc>
              </a:pPr>
              <a:r>
                <a:rPr lang="en-US" sz="856" spc="56">
                  <a:solidFill>
                    <a:srgbClr val="282828"/>
                  </a:solidFill>
                  <a:latin typeface="Roboto"/>
                  <a:ea typeface="Roboto"/>
                  <a:cs typeface="Roboto"/>
                  <a:sym typeface="Roboto"/>
                </a:rPr>
                <a:t>  </a:t>
              </a:r>
              <a:r>
                <a:rPr lang="en-US" sz="856" spc="56">
                  <a:solidFill>
                    <a:srgbClr val="282828"/>
                  </a:solidFill>
                  <a:latin typeface="Roboto"/>
                  <a:ea typeface="Roboto"/>
                  <a:cs typeface="Roboto"/>
                  <a:sym typeface="Roboto"/>
                </a:rPr>
                <a:t>Montevideo, Uruguay</a:t>
              </a:r>
            </a:p>
          </p:txBody>
        </p:sp>
        <p:sp>
          <p:nvSpPr>
            <p:cNvPr name="TextBox 10" id="10"/>
            <p:cNvSpPr txBox="true"/>
            <p:nvPr/>
          </p:nvSpPr>
          <p:spPr>
            <a:xfrm rot="0">
              <a:off x="6013218" y="1002"/>
              <a:ext cx="1378609" cy="183331"/>
            </a:xfrm>
            <a:prstGeom prst="rect">
              <a:avLst/>
            </a:prstGeom>
          </p:spPr>
          <p:txBody>
            <a:bodyPr anchor="t" rtlCol="false" tIns="0" lIns="0" bIns="0" rIns="0">
              <a:spAutoFit/>
            </a:bodyPr>
            <a:lstStyle/>
            <a:p>
              <a:pPr algn="ctr">
                <a:lnSpc>
                  <a:spcPts val="1198"/>
                </a:lnSpc>
              </a:pPr>
              <a:r>
                <a:rPr lang="en-US" sz="856" spc="56">
                  <a:solidFill>
                    <a:srgbClr val="282828"/>
                  </a:solidFill>
                  <a:latin typeface="Roboto"/>
                  <a:ea typeface="Roboto"/>
                  <a:cs typeface="Roboto"/>
                  <a:sym typeface="Roboto"/>
                </a:rPr>
                <a:t>Punta Carretas</a:t>
              </a:r>
            </a:p>
          </p:txBody>
        </p:sp>
        <p:sp>
          <p:nvSpPr>
            <p:cNvPr name="TextBox 11" id="11"/>
            <p:cNvSpPr txBox="true"/>
            <p:nvPr/>
          </p:nvSpPr>
          <p:spPr>
            <a:xfrm rot="0">
              <a:off x="1747465" y="1002"/>
              <a:ext cx="1508433" cy="185748"/>
            </a:xfrm>
            <a:prstGeom prst="rect">
              <a:avLst/>
            </a:prstGeom>
          </p:spPr>
          <p:txBody>
            <a:bodyPr anchor="t" rtlCol="false" tIns="0" lIns="0" bIns="0" rIns="0">
              <a:spAutoFit/>
            </a:bodyPr>
            <a:lstStyle/>
            <a:p>
              <a:pPr algn="ctr">
                <a:lnSpc>
                  <a:spcPts val="1198"/>
                </a:lnSpc>
                <a:spcBef>
                  <a:spcPct val="0"/>
                </a:spcBef>
              </a:pPr>
              <a:r>
                <a:rPr lang="en-US" sz="856" spc="132">
                  <a:solidFill>
                    <a:srgbClr val="282828"/>
                  </a:solidFill>
                  <a:latin typeface="Roboto"/>
                  <a:ea typeface="Roboto"/>
                  <a:cs typeface="Roboto"/>
                  <a:sym typeface="Roboto"/>
                </a:rPr>
                <a:t>(+598) 2712 6550</a:t>
              </a:r>
            </a:p>
          </p:txBody>
        </p:sp>
      </p:grpSp>
      <p:sp>
        <p:nvSpPr>
          <p:cNvPr name="TextBox 12" id="12"/>
          <p:cNvSpPr txBox="true"/>
          <p:nvPr/>
        </p:nvSpPr>
        <p:spPr>
          <a:xfrm rot="0">
            <a:off x="756000" y="1481984"/>
            <a:ext cx="4213670" cy="285750"/>
          </a:xfrm>
          <a:prstGeom prst="rect">
            <a:avLst/>
          </a:prstGeom>
        </p:spPr>
        <p:txBody>
          <a:bodyPr anchor="t" rtlCol="false" tIns="0" lIns="0" bIns="0" rIns="0">
            <a:spAutoFit/>
          </a:bodyPr>
          <a:lstStyle/>
          <a:p>
            <a:pPr algn="l">
              <a:lnSpc>
                <a:spcPts val="2100"/>
              </a:lnSpc>
            </a:pPr>
            <a:r>
              <a:rPr lang="en-US" b="true" sz="1500">
                <a:solidFill>
                  <a:srgbClr val="C9B8A7"/>
                </a:solidFill>
                <a:latin typeface="Ubuntu Bold"/>
                <a:ea typeface="Ubuntu Bold"/>
                <a:cs typeface="Ubuntu Bold"/>
                <a:sym typeface="Ubuntu Bold"/>
              </a:rPr>
              <a:t>ALCANCE DE LOS SERVICIOS</a:t>
            </a:r>
          </a:p>
        </p:txBody>
      </p:sp>
      <p:sp>
        <p:nvSpPr>
          <p:cNvPr name="TextBox 13" id="13"/>
          <p:cNvSpPr txBox="true"/>
          <p:nvPr/>
        </p:nvSpPr>
        <p:spPr>
          <a:xfrm rot="0">
            <a:off x="730608" y="2091584"/>
            <a:ext cx="5425484" cy="421640"/>
          </a:xfrm>
          <a:prstGeom prst="rect">
            <a:avLst/>
          </a:prstGeom>
        </p:spPr>
        <p:txBody>
          <a:bodyPr anchor="t" rtlCol="false" tIns="0" lIns="0" bIns="0" rIns="0">
            <a:spAutoFit/>
          </a:bodyPr>
          <a:lstStyle/>
          <a:p>
            <a:pPr algn="l">
              <a:lnSpc>
                <a:spcPts val="1689"/>
              </a:lnSpc>
            </a:pPr>
            <a:r>
              <a:rPr lang="en-US" b="true" sz="1299">
                <a:solidFill>
                  <a:srgbClr val="000000"/>
                </a:solidFill>
                <a:latin typeface="Ubuntu Bold"/>
                <a:ea typeface="Ubuntu Bold"/>
                <a:cs typeface="Ubuntu Bold"/>
                <a:sym typeface="Ubuntu Bold"/>
              </a:rPr>
              <a:t>Asesoramiento en materia de residencia fiscal y consecuencias tributarias asociadas</a:t>
            </a:r>
          </a:p>
        </p:txBody>
      </p:sp>
      <p:sp>
        <p:nvSpPr>
          <p:cNvPr name="TextBox 14" id="14"/>
          <p:cNvSpPr txBox="true"/>
          <p:nvPr/>
        </p:nvSpPr>
        <p:spPr>
          <a:xfrm rot="0">
            <a:off x="720000" y="2818024"/>
            <a:ext cx="6120000" cy="1684529"/>
          </a:xfrm>
          <a:prstGeom prst="rect">
            <a:avLst/>
          </a:prstGeom>
        </p:spPr>
        <p:txBody>
          <a:bodyPr anchor="t" rtlCol="false" tIns="0" lIns="0" bIns="0" rIns="0">
            <a:spAutoFit/>
          </a:bodyPr>
          <a:lstStyle/>
          <a:p>
            <a:pPr algn="just">
              <a:lnSpc>
                <a:spcPts val="1651"/>
              </a:lnSpc>
            </a:pPr>
            <a:r>
              <a:rPr lang="en-US" sz="1179">
                <a:solidFill>
                  <a:srgbClr val="000000"/>
                </a:solidFill>
                <a:latin typeface="Roboto"/>
                <a:ea typeface="Roboto"/>
                <a:cs typeface="Roboto"/>
                <a:sym typeface="Roboto"/>
              </a:rPr>
              <a:t>Comprende el asesoramiento relativo a los requisitos para acceder a la residencia fiscal, las distintas alternativas existentes para el acceso a la misma, así como e</a:t>
            </a:r>
            <a:r>
              <a:rPr lang="en-US" sz="1179">
                <a:solidFill>
                  <a:srgbClr val="000000"/>
                </a:solidFill>
                <a:latin typeface="Roboto"/>
                <a:ea typeface="Roboto"/>
                <a:cs typeface="Roboto"/>
                <a:sym typeface="Roboto"/>
              </a:rPr>
              <a:t>l análisis</a:t>
            </a:r>
            <a:r>
              <a:rPr lang="en-US" sz="1179">
                <a:solidFill>
                  <a:srgbClr val="000000"/>
                </a:solidFill>
                <a:latin typeface="Roboto"/>
                <a:ea typeface="Roboto"/>
                <a:cs typeface="Roboto"/>
                <a:sym typeface="Roboto"/>
              </a:rPr>
              <a:t> y re</a:t>
            </a:r>
            <a:r>
              <a:rPr lang="en-US" sz="1179">
                <a:solidFill>
                  <a:srgbClr val="000000"/>
                </a:solidFill>
                <a:latin typeface="Roboto"/>
                <a:ea typeface="Roboto"/>
                <a:cs typeface="Roboto"/>
                <a:sym typeface="Roboto"/>
              </a:rPr>
              <a:t>comendación de la mejor forma de hacerlo en el caso bajo análisis. El análisis incluye las implicancias tributarias derivadas del acceso a la residencia fiscal en Uruguay tanto a nivel doméstico como a nivel internacional (obligación de pagar impuesto a la renta, montos imponibles y tasas aplicables, posibilidad de acceder a vacaciones fiscales sobre ciertas</a:t>
            </a:r>
            <a:r>
              <a:rPr lang="en-US" sz="1179">
                <a:solidFill>
                  <a:srgbClr val="000000"/>
                </a:solidFill>
                <a:latin typeface="Roboto"/>
                <a:ea typeface="Roboto"/>
                <a:cs typeface="Roboto"/>
                <a:sym typeface="Roboto"/>
              </a:rPr>
              <a:t> re</a:t>
            </a:r>
            <a:r>
              <a:rPr lang="en-US" sz="1179">
                <a:solidFill>
                  <a:srgbClr val="000000"/>
                </a:solidFill>
                <a:latin typeface="Roboto"/>
                <a:ea typeface="Roboto"/>
                <a:cs typeface="Roboto"/>
                <a:sym typeface="Roboto"/>
              </a:rPr>
              <a:t>ntas, entre otras).</a:t>
            </a:r>
          </a:p>
          <a:p>
            <a:pPr algn="just">
              <a:lnSpc>
                <a:spcPts val="1651"/>
              </a:lnSpc>
            </a:pPr>
          </a:p>
        </p:txBody>
      </p:sp>
      <p:sp>
        <p:nvSpPr>
          <p:cNvPr name="TextBox 15" id="15"/>
          <p:cNvSpPr txBox="true"/>
          <p:nvPr/>
        </p:nvSpPr>
        <p:spPr>
          <a:xfrm rot="0">
            <a:off x="730608" y="4591503"/>
            <a:ext cx="5425484" cy="421640"/>
          </a:xfrm>
          <a:prstGeom prst="rect">
            <a:avLst/>
          </a:prstGeom>
        </p:spPr>
        <p:txBody>
          <a:bodyPr anchor="t" rtlCol="false" tIns="0" lIns="0" bIns="0" rIns="0">
            <a:spAutoFit/>
          </a:bodyPr>
          <a:lstStyle/>
          <a:p>
            <a:pPr algn="l">
              <a:lnSpc>
                <a:spcPts val="1689"/>
              </a:lnSpc>
            </a:pPr>
            <a:r>
              <a:rPr lang="en-US" b="true" sz="1299">
                <a:solidFill>
                  <a:srgbClr val="000000"/>
                </a:solidFill>
                <a:latin typeface="Ubuntu Bold"/>
                <a:ea typeface="Ubuntu Bold"/>
                <a:cs typeface="Ubuntu Bold"/>
                <a:sym typeface="Ubuntu Bold"/>
              </a:rPr>
              <a:t>Servicio de tramitación y acompañamiento en la obtención del certificado de residencia fiscal en Uruguay.</a:t>
            </a:r>
          </a:p>
        </p:txBody>
      </p:sp>
      <p:sp>
        <p:nvSpPr>
          <p:cNvPr name="TextBox 16" id="16"/>
          <p:cNvSpPr txBox="true"/>
          <p:nvPr/>
        </p:nvSpPr>
        <p:spPr>
          <a:xfrm rot="0">
            <a:off x="720000" y="5347493"/>
            <a:ext cx="6120000" cy="1055879"/>
          </a:xfrm>
          <a:prstGeom prst="rect">
            <a:avLst/>
          </a:prstGeom>
        </p:spPr>
        <p:txBody>
          <a:bodyPr anchor="t" rtlCol="false" tIns="0" lIns="0" bIns="0" rIns="0">
            <a:spAutoFit/>
          </a:bodyPr>
          <a:lstStyle/>
          <a:p>
            <a:pPr algn="just">
              <a:lnSpc>
                <a:spcPts val="1651"/>
              </a:lnSpc>
            </a:pPr>
            <a:r>
              <a:rPr lang="en-US" sz="1179">
                <a:solidFill>
                  <a:srgbClr val="000000"/>
                </a:solidFill>
                <a:latin typeface="Roboto"/>
                <a:ea typeface="Roboto"/>
                <a:cs typeface="Roboto"/>
                <a:sym typeface="Roboto"/>
              </a:rPr>
              <a:t>Este servicio comprende incluye la inscripción del cliente ante la Dirección General Impositiva (DGI), el armado de los formularios para aplicar a la misma, así como </a:t>
            </a:r>
            <a:r>
              <a:rPr lang="en-US" sz="1179">
                <a:solidFill>
                  <a:srgbClr val="000000"/>
                </a:solidFill>
                <a:latin typeface="Roboto"/>
                <a:ea typeface="Roboto"/>
                <a:cs typeface="Roboto"/>
                <a:sym typeface="Roboto"/>
              </a:rPr>
              <a:t>la</a:t>
            </a:r>
            <a:r>
              <a:rPr lang="en-US" sz="1179">
                <a:solidFill>
                  <a:srgbClr val="000000"/>
                </a:solidFill>
                <a:latin typeface="Roboto"/>
                <a:ea typeface="Roboto"/>
                <a:cs typeface="Roboto"/>
                <a:sym typeface="Roboto"/>
              </a:rPr>
              <a:t> pres</a:t>
            </a:r>
            <a:r>
              <a:rPr lang="en-US" sz="1179">
                <a:solidFill>
                  <a:srgbClr val="000000"/>
                </a:solidFill>
                <a:latin typeface="Roboto"/>
                <a:ea typeface="Roboto"/>
                <a:cs typeface="Roboto"/>
                <a:sym typeface="Roboto"/>
              </a:rPr>
              <a:t>entación de los documentos necesarios para el inicio del expediente, y el seguimiento del trámite. El servicio culmina con la obtención del certificado de residencia fiscal.</a:t>
            </a:r>
          </a:p>
          <a:p>
            <a:pPr algn="just">
              <a:lnSpc>
                <a:spcPts val="1651"/>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156092" y="521900"/>
            <a:ext cx="1006014" cy="468201"/>
          </a:xfrm>
          <a:custGeom>
            <a:avLst/>
            <a:gdLst/>
            <a:ahLst/>
            <a:cxnLst/>
            <a:rect r="r" b="b" t="t" l="l"/>
            <a:pathLst>
              <a:path h="468201" w="1006014">
                <a:moveTo>
                  <a:pt x="0" y="0"/>
                </a:moveTo>
                <a:lnTo>
                  <a:pt x="1006014" y="0"/>
                </a:lnTo>
                <a:lnTo>
                  <a:pt x="1006014" y="468200"/>
                </a:lnTo>
                <a:lnTo>
                  <a:pt x="0" y="468200"/>
                </a:lnTo>
                <a:lnTo>
                  <a:pt x="0" y="0"/>
                </a:lnTo>
                <a:close/>
              </a:path>
            </a:pathLst>
          </a:custGeom>
          <a:blipFill>
            <a:blip r:embed="rId2"/>
            <a:stretch>
              <a:fillRect l="0" t="0" r="0" b="0"/>
            </a:stretch>
          </a:blipFill>
        </p:spPr>
      </p:sp>
      <p:grpSp>
        <p:nvGrpSpPr>
          <p:cNvPr name="Group 3" id="3"/>
          <p:cNvGrpSpPr/>
          <p:nvPr/>
        </p:nvGrpSpPr>
        <p:grpSpPr>
          <a:xfrm rot="0">
            <a:off x="0" y="10278452"/>
            <a:ext cx="7560000" cy="413548"/>
            <a:chOff x="0" y="0"/>
            <a:chExt cx="8576120" cy="469132"/>
          </a:xfrm>
        </p:grpSpPr>
        <p:sp>
          <p:nvSpPr>
            <p:cNvPr name="Freeform 4" id="4"/>
            <p:cNvSpPr/>
            <p:nvPr/>
          </p:nvSpPr>
          <p:spPr>
            <a:xfrm flipH="false" flipV="false" rot="0">
              <a:off x="0" y="0"/>
              <a:ext cx="8576120" cy="469132"/>
            </a:xfrm>
            <a:custGeom>
              <a:avLst/>
              <a:gdLst/>
              <a:ahLst/>
              <a:cxnLst/>
              <a:rect r="r" b="b" t="t" l="l"/>
              <a:pathLst>
                <a:path h="469132" w="8576120">
                  <a:moveTo>
                    <a:pt x="0" y="0"/>
                  </a:moveTo>
                  <a:lnTo>
                    <a:pt x="8576120" y="0"/>
                  </a:lnTo>
                  <a:lnTo>
                    <a:pt x="8576120" y="469132"/>
                  </a:lnTo>
                  <a:lnTo>
                    <a:pt x="0" y="469132"/>
                  </a:lnTo>
                  <a:close/>
                </a:path>
              </a:pathLst>
            </a:custGeom>
            <a:solidFill>
              <a:srgbClr val="FAF6F1"/>
            </a:solidFill>
          </p:spPr>
        </p:sp>
        <p:sp>
          <p:nvSpPr>
            <p:cNvPr name="TextBox 5" id="5"/>
            <p:cNvSpPr txBox="true"/>
            <p:nvPr/>
          </p:nvSpPr>
          <p:spPr>
            <a:xfrm>
              <a:off x="0" y="-19050"/>
              <a:ext cx="8576120" cy="488182"/>
            </a:xfrm>
            <a:prstGeom prst="rect">
              <a:avLst/>
            </a:prstGeom>
          </p:spPr>
          <p:txBody>
            <a:bodyPr anchor="ctr" rtlCol="false" tIns="43486" lIns="43486" bIns="43486" rIns="43486"/>
            <a:lstStyle/>
            <a:p>
              <a:pPr algn="ctr">
                <a:lnSpc>
                  <a:spcPts val="599"/>
                </a:lnSpc>
              </a:pPr>
            </a:p>
          </p:txBody>
        </p:sp>
      </p:grpSp>
      <p:sp>
        <p:nvSpPr>
          <p:cNvPr name="TextBox 6" id="6"/>
          <p:cNvSpPr txBox="true"/>
          <p:nvPr/>
        </p:nvSpPr>
        <p:spPr>
          <a:xfrm rot="0">
            <a:off x="720000" y="1545298"/>
            <a:ext cx="4213670" cy="285750"/>
          </a:xfrm>
          <a:prstGeom prst="rect">
            <a:avLst/>
          </a:prstGeom>
        </p:spPr>
        <p:txBody>
          <a:bodyPr anchor="t" rtlCol="false" tIns="0" lIns="0" bIns="0" rIns="0">
            <a:spAutoFit/>
          </a:bodyPr>
          <a:lstStyle/>
          <a:p>
            <a:pPr algn="l" marL="0" indent="0" lvl="0">
              <a:lnSpc>
                <a:spcPts val="2100"/>
              </a:lnSpc>
              <a:spcBef>
                <a:spcPct val="0"/>
              </a:spcBef>
            </a:pPr>
            <a:r>
              <a:rPr lang="en-US" b="true" sz="1500">
                <a:solidFill>
                  <a:srgbClr val="C9B8A7"/>
                </a:solidFill>
                <a:latin typeface="Ubuntu Bold"/>
                <a:ea typeface="Ubuntu Bold"/>
                <a:cs typeface="Ubuntu Bold"/>
                <a:sym typeface="Ubuntu Bold"/>
              </a:rPr>
              <a:t>HONORARIOS PROFESIONALES</a:t>
            </a:r>
          </a:p>
        </p:txBody>
      </p:sp>
      <p:sp>
        <p:nvSpPr>
          <p:cNvPr name="TextBox 7" id="7"/>
          <p:cNvSpPr txBox="true"/>
          <p:nvPr/>
        </p:nvSpPr>
        <p:spPr>
          <a:xfrm rot="0">
            <a:off x="720000" y="2488273"/>
            <a:ext cx="6120000" cy="417195"/>
          </a:xfrm>
          <a:prstGeom prst="rect">
            <a:avLst/>
          </a:prstGeom>
        </p:spPr>
        <p:txBody>
          <a:bodyPr anchor="t" rtlCol="false" tIns="0" lIns="0" bIns="0" rIns="0">
            <a:spAutoFit/>
          </a:bodyPr>
          <a:lstStyle/>
          <a:p>
            <a:pPr algn="just">
              <a:lnSpc>
                <a:spcPts val="1679"/>
              </a:lnSpc>
            </a:pPr>
            <a:r>
              <a:rPr lang="en-US" sz="1200">
                <a:solidFill>
                  <a:srgbClr val="000000"/>
                </a:solidFill>
                <a:latin typeface="Roboto"/>
                <a:ea typeface="Roboto"/>
                <a:cs typeface="Roboto"/>
                <a:sym typeface="Roboto"/>
              </a:rPr>
              <a:t>En base al alcance de los servicios descritos en el anterior apartado estimamos nuestros honorarios en dólares estadounidenses (USD):</a:t>
            </a:r>
          </a:p>
        </p:txBody>
      </p:sp>
      <p:grpSp>
        <p:nvGrpSpPr>
          <p:cNvPr name="Group 8" id="8"/>
          <p:cNvGrpSpPr/>
          <p:nvPr/>
        </p:nvGrpSpPr>
        <p:grpSpPr>
          <a:xfrm rot="0">
            <a:off x="362278" y="10424181"/>
            <a:ext cx="6873841" cy="153289"/>
            <a:chOff x="0" y="0"/>
            <a:chExt cx="9165122" cy="204386"/>
          </a:xfrm>
        </p:grpSpPr>
        <p:sp>
          <p:nvSpPr>
            <p:cNvPr name="TextBox 9" id="9"/>
            <p:cNvSpPr txBox="true"/>
            <p:nvPr/>
          </p:nvSpPr>
          <p:spPr>
            <a:xfrm rot="0">
              <a:off x="0" y="-28575"/>
              <a:ext cx="1215409" cy="232961"/>
            </a:xfrm>
            <a:prstGeom prst="rect">
              <a:avLst/>
            </a:prstGeom>
          </p:spPr>
          <p:txBody>
            <a:bodyPr anchor="t" rtlCol="false" tIns="0" lIns="0" bIns="0" rIns="0">
              <a:spAutoFit/>
            </a:bodyPr>
            <a:lstStyle/>
            <a:p>
              <a:pPr algn="ctr">
                <a:lnSpc>
                  <a:spcPts val="1438"/>
                </a:lnSpc>
                <a:spcBef>
                  <a:spcPct val="0"/>
                </a:spcBef>
              </a:pPr>
              <a:r>
                <a:rPr lang="en-US" sz="1027" spc="159">
                  <a:solidFill>
                    <a:srgbClr val="282828"/>
                  </a:solidFill>
                  <a:latin typeface="Roboto"/>
                  <a:ea typeface="Roboto"/>
                  <a:cs typeface="Roboto"/>
                  <a:sym typeface="Roboto"/>
                </a:rPr>
                <a:t>mxa.com.uy</a:t>
              </a:r>
            </a:p>
          </p:txBody>
        </p:sp>
        <p:sp>
          <p:nvSpPr>
            <p:cNvPr name="TextBox 10" id="10"/>
            <p:cNvSpPr txBox="true"/>
            <p:nvPr/>
          </p:nvSpPr>
          <p:spPr>
            <a:xfrm rot="0">
              <a:off x="3639027" y="3419"/>
              <a:ext cx="2146364" cy="183331"/>
            </a:xfrm>
            <a:prstGeom prst="rect">
              <a:avLst/>
            </a:prstGeom>
          </p:spPr>
          <p:txBody>
            <a:bodyPr anchor="t" rtlCol="false" tIns="0" lIns="0" bIns="0" rIns="0">
              <a:spAutoFit/>
            </a:bodyPr>
            <a:lstStyle/>
            <a:p>
              <a:pPr algn="ctr">
                <a:lnSpc>
                  <a:spcPts val="1198"/>
                </a:lnSpc>
              </a:pPr>
              <a:r>
                <a:rPr lang="en-US" sz="856" spc="56">
                  <a:solidFill>
                    <a:srgbClr val="282828"/>
                  </a:solidFill>
                  <a:latin typeface="Roboto"/>
                  <a:ea typeface="Roboto"/>
                  <a:cs typeface="Roboto"/>
                  <a:sym typeface="Roboto"/>
                </a:rPr>
                <a:t>Bvr. Gral. Artigas 417 piso 7     </a:t>
              </a:r>
            </a:p>
          </p:txBody>
        </p:sp>
        <p:sp>
          <p:nvSpPr>
            <p:cNvPr name="TextBox 11" id="11"/>
            <p:cNvSpPr txBox="true"/>
            <p:nvPr/>
          </p:nvSpPr>
          <p:spPr>
            <a:xfrm rot="0">
              <a:off x="7486068" y="1002"/>
              <a:ext cx="1679054" cy="183331"/>
            </a:xfrm>
            <a:prstGeom prst="rect">
              <a:avLst/>
            </a:prstGeom>
          </p:spPr>
          <p:txBody>
            <a:bodyPr anchor="t" rtlCol="false" tIns="0" lIns="0" bIns="0" rIns="0">
              <a:spAutoFit/>
            </a:bodyPr>
            <a:lstStyle/>
            <a:p>
              <a:pPr algn="r">
                <a:lnSpc>
                  <a:spcPts val="1198"/>
                </a:lnSpc>
              </a:pPr>
              <a:r>
                <a:rPr lang="en-US" sz="856" spc="56">
                  <a:solidFill>
                    <a:srgbClr val="282828"/>
                  </a:solidFill>
                  <a:latin typeface="Roboto"/>
                  <a:ea typeface="Roboto"/>
                  <a:cs typeface="Roboto"/>
                  <a:sym typeface="Roboto"/>
                </a:rPr>
                <a:t>  </a:t>
              </a:r>
              <a:r>
                <a:rPr lang="en-US" sz="856" spc="56">
                  <a:solidFill>
                    <a:srgbClr val="282828"/>
                  </a:solidFill>
                  <a:latin typeface="Roboto"/>
                  <a:ea typeface="Roboto"/>
                  <a:cs typeface="Roboto"/>
                  <a:sym typeface="Roboto"/>
                </a:rPr>
                <a:t>Montevideo, Uruguay</a:t>
              </a:r>
            </a:p>
          </p:txBody>
        </p:sp>
        <p:sp>
          <p:nvSpPr>
            <p:cNvPr name="TextBox 12" id="12"/>
            <p:cNvSpPr txBox="true"/>
            <p:nvPr/>
          </p:nvSpPr>
          <p:spPr>
            <a:xfrm rot="0">
              <a:off x="6013218" y="1002"/>
              <a:ext cx="1378609" cy="183331"/>
            </a:xfrm>
            <a:prstGeom prst="rect">
              <a:avLst/>
            </a:prstGeom>
          </p:spPr>
          <p:txBody>
            <a:bodyPr anchor="t" rtlCol="false" tIns="0" lIns="0" bIns="0" rIns="0">
              <a:spAutoFit/>
            </a:bodyPr>
            <a:lstStyle/>
            <a:p>
              <a:pPr algn="ctr">
                <a:lnSpc>
                  <a:spcPts val="1198"/>
                </a:lnSpc>
              </a:pPr>
              <a:r>
                <a:rPr lang="en-US" sz="856" spc="56">
                  <a:solidFill>
                    <a:srgbClr val="282828"/>
                  </a:solidFill>
                  <a:latin typeface="Roboto"/>
                  <a:ea typeface="Roboto"/>
                  <a:cs typeface="Roboto"/>
                  <a:sym typeface="Roboto"/>
                </a:rPr>
                <a:t>Punta Carretas</a:t>
              </a:r>
            </a:p>
          </p:txBody>
        </p:sp>
        <p:sp>
          <p:nvSpPr>
            <p:cNvPr name="TextBox 13" id="13"/>
            <p:cNvSpPr txBox="true"/>
            <p:nvPr/>
          </p:nvSpPr>
          <p:spPr>
            <a:xfrm rot="0">
              <a:off x="1747465" y="1002"/>
              <a:ext cx="1508433" cy="185748"/>
            </a:xfrm>
            <a:prstGeom prst="rect">
              <a:avLst/>
            </a:prstGeom>
          </p:spPr>
          <p:txBody>
            <a:bodyPr anchor="t" rtlCol="false" tIns="0" lIns="0" bIns="0" rIns="0">
              <a:spAutoFit/>
            </a:bodyPr>
            <a:lstStyle/>
            <a:p>
              <a:pPr algn="ctr">
                <a:lnSpc>
                  <a:spcPts val="1198"/>
                </a:lnSpc>
                <a:spcBef>
                  <a:spcPct val="0"/>
                </a:spcBef>
              </a:pPr>
              <a:r>
                <a:rPr lang="en-US" sz="856" spc="132">
                  <a:solidFill>
                    <a:srgbClr val="282828"/>
                  </a:solidFill>
                  <a:latin typeface="Roboto"/>
                  <a:ea typeface="Roboto"/>
                  <a:cs typeface="Roboto"/>
                  <a:sym typeface="Roboto"/>
                </a:rPr>
                <a:t>(+598) 2712 6550</a:t>
              </a:r>
            </a:p>
          </p:txBody>
        </p:sp>
      </p:grpSp>
      <p:grpSp>
        <p:nvGrpSpPr>
          <p:cNvPr name="Group 14" id="14"/>
          <p:cNvGrpSpPr/>
          <p:nvPr/>
        </p:nvGrpSpPr>
        <p:grpSpPr>
          <a:xfrm rot="0">
            <a:off x="840695" y="3286468"/>
            <a:ext cx="5869582" cy="385778"/>
            <a:chOff x="0" y="0"/>
            <a:chExt cx="2103526" cy="138254"/>
          </a:xfrm>
        </p:grpSpPr>
        <p:sp>
          <p:nvSpPr>
            <p:cNvPr name="Freeform 15" id="15"/>
            <p:cNvSpPr/>
            <p:nvPr/>
          </p:nvSpPr>
          <p:spPr>
            <a:xfrm flipH="false" flipV="false" rot="0">
              <a:off x="0" y="0"/>
              <a:ext cx="2103525" cy="138254"/>
            </a:xfrm>
            <a:custGeom>
              <a:avLst/>
              <a:gdLst/>
              <a:ahLst/>
              <a:cxnLst/>
              <a:rect r="r" b="b" t="t" l="l"/>
              <a:pathLst>
                <a:path h="138254" w="2103525">
                  <a:moveTo>
                    <a:pt x="0" y="0"/>
                  </a:moveTo>
                  <a:lnTo>
                    <a:pt x="2103525" y="0"/>
                  </a:lnTo>
                  <a:lnTo>
                    <a:pt x="2103525" y="138254"/>
                  </a:lnTo>
                  <a:lnTo>
                    <a:pt x="0" y="138254"/>
                  </a:lnTo>
                  <a:close/>
                </a:path>
              </a:pathLst>
            </a:custGeom>
            <a:solidFill>
              <a:srgbClr val="C9B8A7"/>
            </a:solidFill>
          </p:spPr>
        </p:sp>
        <p:sp>
          <p:nvSpPr>
            <p:cNvPr name="TextBox 16" id="16"/>
            <p:cNvSpPr txBox="true"/>
            <p:nvPr/>
          </p:nvSpPr>
          <p:spPr>
            <a:xfrm>
              <a:off x="0" y="-28575"/>
              <a:ext cx="2103526" cy="166829"/>
            </a:xfrm>
            <a:prstGeom prst="rect">
              <a:avLst/>
            </a:prstGeom>
          </p:spPr>
          <p:txBody>
            <a:bodyPr anchor="ctr" rtlCol="false" tIns="50800" lIns="50800" bIns="50800" rIns="50800"/>
            <a:lstStyle/>
            <a:p>
              <a:pPr algn="ctr">
                <a:lnSpc>
                  <a:spcPts val="1438"/>
                </a:lnSpc>
              </a:pPr>
            </a:p>
          </p:txBody>
        </p:sp>
      </p:grpSp>
      <p:sp>
        <p:nvSpPr>
          <p:cNvPr name="TextBox 17" id="17"/>
          <p:cNvSpPr txBox="true"/>
          <p:nvPr/>
        </p:nvSpPr>
        <p:spPr>
          <a:xfrm rot="0">
            <a:off x="962453" y="3372677"/>
            <a:ext cx="1043715" cy="194310"/>
          </a:xfrm>
          <a:prstGeom prst="rect">
            <a:avLst/>
          </a:prstGeom>
        </p:spPr>
        <p:txBody>
          <a:bodyPr anchor="t" rtlCol="false" tIns="0" lIns="0" bIns="0" rIns="0">
            <a:spAutoFit/>
          </a:bodyPr>
          <a:lstStyle/>
          <a:p>
            <a:pPr algn="l">
              <a:lnSpc>
                <a:spcPts val="1560"/>
              </a:lnSpc>
            </a:pPr>
            <a:r>
              <a:rPr lang="en-US" b="true" sz="1200">
                <a:solidFill>
                  <a:srgbClr val="000000"/>
                </a:solidFill>
                <a:latin typeface="Ubuntu Bold"/>
                <a:ea typeface="Ubuntu Bold"/>
                <a:cs typeface="Ubuntu Bold"/>
                <a:sym typeface="Ubuntu Bold"/>
              </a:rPr>
              <a:t>CONCEPTO</a:t>
            </a:r>
          </a:p>
        </p:txBody>
      </p:sp>
      <p:sp>
        <p:nvSpPr>
          <p:cNvPr name="TextBox 18" id="18"/>
          <p:cNvSpPr txBox="true"/>
          <p:nvPr/>
        </p:nvSpPr>
        <p:spPr>
          <a:xfrm rot="0">
            <a:off x="5068202" y="3370924"/>
            <a:ext cx="1483325" cy="194310"/>
          </a:xfrm>
          <a:prstGeom prst="rect">
            <a:avLst/>
          </a:prstGeom>
        </p:spPr>
        <p:txBody>
          <a:bodyPr anchor="t" rtlCol="false" tIns="0" lIns="0" bIns="0" rIns="0">
            <a:spAutoFit/>
          </a:bodyPr>
          <a:lstStyle/>
          <a:p>
            <a:pPr algn="r">
              <a:lnSpc>
                <a:spcPts val="1560"/>
              </a:lnSpc>
            </a:pPr>
            <a:r>
              <a:rPr lang="en-US" b="true" sz="1200">
                <a:solidFill>
                  <a:srgbClr val="000000"/>
                </a:solidFill>
                <a:latin typeface="Ubuntu Bold"/>
                <a:ea typeface="Ubuntu Bold"/>
                <a:cs typeface="Ubuntu Bold"/>
                <a:sym typeface="Ubuntu Bold"/>
              </a:rPr>
              <a:t>Honorarios (USD)</a:t>
            </a:r>
          </a:p>
        </p:txBody>
      </p:sp>
      <p:grpSp>
        <p:nvGrpSpPr>
          <p:cNvPr name="Group 19" id="19"/>
          <p:cNvGrpSpPr/>
          <p:nvPr/>
        </p:nvGrpSpPr>
        <p:grpSpPr>
          <a:xfrm rot="0">
            <a:off x="849723" y="3671205"/>
            <a:ext cx="5869582" cy="498069"/>
            <a:chOff x="0" y="0"/>
            <a:chExt cx="2103526" cy="178497"/>
          </a:xfrm>
        </p:grpSpPr>
        <p:sp>
          <p:nvSpPr>
            <p:cNvPr name="Freeform 20" id="20"/>
            <p:cNvSpPr/>
            <p:nvPr/>
          </p:nvSpPr>
          <p:spPr>
            <a:xfrm flipH="false" flipV="false" rot="0">
              <a:off x="0" y="0"/>
              <a:ext cx="2103525" cy="178497"/>
            </a:xfrm>
            <a:custGeom>
              <a:avLst/>
              <a:gdLst/>
              <a:ahLst/>
              <a:cxnLst/>
              <a:rect r="r" b="b" t="t" l="l"/>
              <a:pathLst>
                <a:path h="178497" w="2103525">
                  <a:moveTo>
                    <a:pt x="0" y="0"/>
                  </a:moveTo>
                  <a:lnTo>
                    <a:pt x="2103525" y="0"/>
                  </a:lnTo>
                  <a:lnTo>
                    <a:pt x="2103525" y="178497"/>
                  </a:lnTo>
                  <a:lnTo>
                    <a:pt x="0" y="178497"/>
                  </a:lnTo>
                  <a:close/>
                </a:path>
              </a:pathLst>
            </a:custGeom>
            <a:solidFill>
              <a:srgbClr val="F3F0E2"/>
            </a:solidFill>
          </p:spPr>
        </p:sp>
        <p:sp>
          <p:nvSpPr>
            <p:cNvPr name="TextBox 21" id="21"/>
            <p:cNvSpPr txBox="true"/>
            <p:nvPr/>
          </p:nvSpPr>
          <p:spPr>
            <a:xfrm>
              <a:off x="0" y="-28575"/>
              <a:ext cx="2103526" cy="207072"/>
            </a:xfrm>
            <a:prstGeom prst="rect">
              <a:avLst/>
            </a:prstGeom>
          </p:spPr>
          <p:txBody>
            <a:bodyPr anchor="ctr" rtlCol="false" tIns="50800" lIns="50800" bIns="50800" rIns="50800"/>
            <a:lstStyle/>
            <a:p>
              <a:pPr algn="ctr">
                <a:lnSpc>
                  <a:spcPts val="1438"/>
                </a:lnSpc>
              </a:pPr>
            </a:p>
          </p:txBody>
        </p:sp>
      </p:grpSp>
      <p:sp>
        <p:nvSpPr>
          <p:cNvPr name="TextBox 22" id="22"/>
          <p:cNvSpPr txBox="true"/>
          <p:nvPr/>
        </p:nvSpPr>
        <p:spPr>
          <a:xfrm rot="0">
            <a:off x="962453" y="3714068"/>
            <a:ext cx="4209494" cy="384810"/>
          </a:xfrm>
          <a:prstGeom prst="rect">
            <a:avLst/>
          </a:prstGeom>
        </p:spPr>
        <p:txBody>
          <a:bodyPr anchor="t" rtlCol="false" tIns="0" lIns="0" bIns="0" rIns="0">
            <a:spAutoFit/>
          </a:bodyPr>
          <a:lstStyle/>
          <a:p>
            <a:pPr algn="l">
              <a:lnSpc>
                <a:spcPts val="1560"/>
              </a:lnSpc>
            </a:pPr>
            <a:r>
              <a:rPr lang="en-US" b="true" sz="1200">
                <a:solidFill>
                  <a:srgbClr val="000000"/>
                </a:solidFill>
                <a:latin typeface="Ubuntu Bold"/>
                <a:ea typeface="Ubuntu Bold"/>
                <a:cs typeface="Ubuntu Bold"/>
                <a:sym typeface="Ubuntu Bold"/>
              </a:rPr>
              <a:t>Asesoramiento en materia de residencia fiscal y consecuencias tributarias asociadas</a:t>
            </a:r>
          </a:p>
        </p:txBody>
      </p:sp>
      <p:sp>
        <p:nvSpPr>
          <p:cNvPr name="TextBox 23" id="23"/>
          <p:cNvSpPr txBox="true"/>
          <p:nvPr/>
        </p:nvSpPr>
        <p:spPr>
          <a:xfrm rot="0">
            <a:off x="5506247" y="3813039"/>
            <a:ext cx="1045280" cy="194310"/>
          </a:xfrm>
          <a:prstGeom prst="rect">
            <a:avLst/>
          </a:prstGeom>
        </p:spPr>
        <p:txBody>
          <a:bodyPr anchor="t" rtlCol="false" tIns="0" lIns="0" bIns="0" rIns="0">
            <a:spAutoFit/>
          </a:bodyPr>
          <a:lstStyle/>
          <a:p>
            <a:pPr algn="r">
              <a:lnSpc>
                <a:spcPts val="1560"/>
              </a:lnSpc>
            </a:pPr>
            <a:r>
              <a:rPr lang="en-US" b="true" sz="1200">
                <a:solidFill>
                  <a:srgbClr val="000000"/>
                </a:solidFill>
                <a:latin typeface="Ubuntu Bold"/>
                <a:ea typeface="Ubuntu Bold"/>
                <a:cs typeface="Ubuntu Bold"/>
                <a:sym typeface="Ubuntu Bold"/>
              </a:rPr>
              <a:t>1.200 USD </a:t>
            </a:r>
          </a:p>
        </p:txBody>
      </p:sp>
      <p:sp>
        <p:nvSpPr>
          <p:cNvPr name="TextBox 24" id="24"/>
          <p:cNvSpPr txBox="true"/>
          <p:nvPr/>
        </p:nvSpPr>
        <p:spPr>
          <a:xfrm rot="0">
            <a:off x="739199" y="5038817"/>
            <a:ext cx="6120000" cy="2722245"/>
          </a:xfrm>
          <a:prstGeom prst="rect">
            <a:avLst/>
          </a:prstGeom>
        </p:spPr>
        <p:txBody>
          <a:bodyPr anchor="t" rtlCol="false" tIns="0" lIns="0" bIns="0" rIns="0">
            <a:spAutoFit/>
          </a:bodyPr>
          <a:lstStyle/>
          <a:p>
            <a:pPr algn="just">
              <a:lnSpc>
                <a:spcPts val="1679"/>
              </a:lnSpc>
            </a:pPr>
            <a:r>
              <a:rPr lang="en-US" sz="1200">
                <a:solidFill>
                  <a:srgbClr val="000000"/>
                </a:solidFill>
                <a:latin typeface="Roboto"/>
                <a:ea typeface="Roboto"/>
                <a:cs typeface="Roboto"/>
                <a:sym typeface="Roboto"/>
              </a:rPr>
              <a:t>A todos los honorarios profesionales referidos anteriormente, se les deberá adicionar el Impuesto al Valor Agregado (IVA), a la tasa vigente (22%). </a:t>
            </a:r>
          </a:p>
          <a:p>
            <a:pPr algn="just">
              <a:lnSpc>
                <a:spcPts val="1679"/>
              </a:lnSpc>
            </a:pPr>
          </a:p>
          <a:p>
            <a:pPr algn="just">
              <a:lnSpc>
                <a:spcPts val="1679"/>
              </a:lnSpc>
            </a:pPr>
            <a:r>
              <a:rPr lang="en-US" sz="1200">
                <a:solidFill>
                  <a:srgbClr val="000000"/>
                </a:solidFill>
                <a:latin typeface="Roboto"/>
                <a:ea typeface="Roboto"/>
                <a:cs typeface="Roboto"/>
                <a:sym typeface="Roboto"/>
              </a:rPr>
              <a:t>Por otro lado, debe tenerse en cuenta que nuestros honorarios no incluyen potenciales gastos ni honorarios de terceros no vinculados que pudieran ser requeridos como parte de la prestación de nuestros servicios.</a:t>
            </a:r>
          </a:p>
          <a:p>
            <a:pPr algn="just">
              <a:lnSpc>
                <a:spcPts val="1679"/>
              </a:lnSpc>
            </a:pPr>
          </a:p>
          <a:p>
            <a:pPr algn="just">
              <a:lnSpc>
                <a:spcPts val="1679"/>
              </a:lnSpc>
            </a:pPr>
            <a:r>
              <a:rPr lang="en-US" sz="1200">
                <a:solidFill>
                  <a:srgbClr val="000000"/>
                </a:solidFill>
                <a:latin typeface="Roboto"/>
                <a:ea typeface="Roboto"/>
                <a:cs typeface="Roboto"/>
                <a:sym typeface="Roboto"/>
              </a:rPr>
              <a:t>Debe tenerse presente que nuestro análisis no implica el involucramiento de expertos locales en Francia. En ese sentido, luego de entregado el informe, y siempre que sea requerido por el Cliente, podrá cotizarse la validación de las diversas alternativas con expertos locales de su confianza o de nuestra red de contactos.</a:t>
            </a:r>
          </a:p>
          <a:p>
            <a:pPr algn="just">
              <a:lnSpc>
                <a:spcPts val="1679"/>
              </a:lnSpc>
            </a:pPr>
          </a:p>
          <a:p>
            <a:pPr algn="just">
              <a:lnSpc>
                <a:spcPts val="1679"/>
              </a:lnSpc>
            </a:pPr>
          </a:p>
        </p:txBody>
      </p:sp>
      <p:grpSp>
        <p:nvGrpSpPr>
          <p:cNvPr name="Group 25" id="25"/>
          <p:cNvGrpSpPr/>
          <p:nvPr/>
        </p:nvGrpSpPr>
        <p:grpSpPr>
          <a:xfrm rot="0">
            <a:off x="849723" y="4174557"/>
            <a:ext cx="5869582" cy="498069"/>
            <a:chOff x="0" y="0"/>
            <a:chExt cx="2103526" cy="178497"/>
          </a:xfrm>
        </p:grpSpPr>
        <p:sp>
          <p:nvSpPr>
            <p:cNvPr name="Freeform 26" id="26"/>
            <p:cNvSpPr/>
            <p:nvPr/>
          </p:nvSpPr>
          <p:spPr>
            <a:xfrm flipH="false" flipV="false" rot="0">
              <a:off x="0" y="0"/>
              <a:ext cx="2103525" cy="178497"/>
            </a:xfrm>
            <a:custGeom>
              <a:avLst/>
              <a:gdLst/>
              <a:ahLst/>
              <a:cxnLst/>
              <a:rect r="r" b="b" t="t" l="l"/>
              <a:pathLst>
                <a:path h="178497" w="2103525">
                  <a:moveTo>
                    <a:pt x="0" y="0"/>
                  </a:moveTo>
                  <a:lnTo>
                    <a:pt x="2103525" y="0"/>
                  </a:lnTo>
                  <a:lnTo>
                    <a:pt x="2103525" y="178497"/>
                  </a:lnTo>
                  <a:lnTo>
                    <a:pt x="0" y="178497"/>
                  </a:lnTo>
                  <a:close/>
                </a:path>
              </a:pathLst>
            </a:custGeom>
            <a:solidFill>
              <a:srgbClr val="F3F0E2"/>
            </a:solidFill>
          </p:spPr>
        </p:sp>
        <p:sp>
          <p:nvSpPr>
            <p:cNvPr name="TextBox 27" id="27"/>
            <p:cNvSpPr txBox="true"/>
            <p:nvPr/>
          </p:nvSpPr>
          <p:spPr>
            <a:xfrm>
              <a:off x="0" y="-28575"/>
              <a:ext cx="2103526" cy="207072"/>
            </a:xfrm>
            <a:prstGeom prst="rect">
              <a:avLst/>
            </a:prstGeom>
          </p:spPr>
          <p:txBody>
            <a:bodyPr anchor="ctr" rtlCol="false" tIns="50800" lIns="50800" bIns="50800" rIns="50800"/>
            <a:lstStyle/>
            <a:p>
              <a:pPr algn="ctr">
                <a:lnSpc>
                  <a:spcPts val="1438"/>
                </a:lnSpc>
              </a:pPr>
            </a:p>
          </p:txBody>
        </p:sp>
      </p:grpSp>
      <p:sp>
        <p:nvSpPr>
          <p:cNvPr name="TextBox 28" id="28"/>
          <p:cNvSpPr txBox="true"/>
          <p:nvPr/>
        </p:nvSpPr>
        <p:spPr>
          <a:xfrm rot="0">
            <a:off x="962453" y="4221661"/>
            <a:ext cx="4297039" cy="384810"/>
          </a:xfrm>
          <a:prstGeom prst="rect">
            <a:avLst/>
          </a:prstGeom>
        </p:spPr>
        <p:txBody>
          <a:bodyPr anchor="t" rtlCol="false" tIns="0" lIns="0" bIns="0" rIns="0">
            <a:spAutoFit/>
          </a:bodyPr>
          <a:lstStyle/>
          <a:p>
            <a:pPr algn="l">
              <a:lnSpc>
                <a:spcPts val="1560"/>
              </a:lnSpc>
            </a:pPr>
            <a:r>
              <a:rPr lang="en-US" b="true" sz="1200">
                <a:solidFill>
                  <a:srgbClr val="000000"/>
                </a:solidFill>
                <a:latin typeface="Ubuntu Bold"/>
                <a:ea typeface="Ubuntu Bold"/>
                <a:cs typeface="Ubuntu Bold"/>
                <a:sym typeface="Ubuntu Bold"/>
              </a:rPr>
              <a:t>Servicio de tramitación y acompañamiento en la obtención del certificado de residencia fiscal en Uruguay</a:t>
            </a:r>
          </a:p>
        </p:txBody>
      </p:sp>
      <p:sp>
        <p:nvSpPr>
          <p:cNvPr name="AutoShape 29" id="29"/>
          <p:cNvSpPr/>
          <p:nvPr/>
        </p:nvSpPr>
        <p:spPr>
          <a:xfrm>
            <a:off x="849723" y="4672625"/>
            <a:ext cx="5869582" cy="4242"/>
          </a:xfrm>
          <a:prstGeom prst="line">
            <a:avLst/>
          </a:prstGeom>
          <a:ln cap="flat" w="19050">
            <a:solidFill>
              <a:srgbClr val="C9B8A7"/>
            </a:solidFill>
            <a:prstDash val="solid"/>
            <a:headEnd type="none" len="sm" w="sm"/>
            <a:tailEnd type="none" len="sm" w="sm"/>
          </a:ln>
        </p:spPr>
      </p:sp>
      <p:sp>
        <p:nvSpPr>
          <p:cNvPr name="TextBox 30" id="30"/>
          <p:cNvSpPr txBox="true"/>
          <p:nvPr/>
        </p:nvSpPr>
        <p:spPr>
          <a:xfrm rot="0">
            <a:off x="5506247" y="4320632"/>
            <a:ext cx="1045280" cy="194310"/>
          </a:xfrm>
          <a:prstGeom prst="rect">
            <a:avLst/>
          </a:prstGeom>
        </p:spPr>
        <p:txBody>
          <a:bodyPr anchor="t" rtlCol="false" tIns="0" lIns="0" bIns="0" rIns="0">
            <a:spAutoFit/>
          </a:bodyPr>
          <a:lstStyle/>
          <a:p>
            <a:pPr algn="r">
              <a:lnSpc>
                <a:spcPts val="1560"/>
              </a:lnSpc>
            </a:pPr>
            <a:r>
              <a:rPr lang="en-US" b="true" sz="1200">
                <a:solidFill>
                  <a:srgbClr val="000000"/>
                </a:solidFill>
                <a:latin typeface="Ubuntu Bold"/>
                <a:ea typeface="Ubuntu Bold"/>
                <a:cs typeface="Ubuntu Bold"/>
                <a:sym typeface="Ubuntu Bold"/>
              </a:rPr>
              <a:t>800 USD </a:t>
            </a:r>
          </a:p>
        </p:txBody>
      </p:sp>
      <p:sp>
        <p:nvSpPr>
          <p:cNvPr name="AutoShape 31" id="31"/>
          <p:cNvSpPr/>
          <p:nvPr/>
        </p:nvSpPr>
        <p:spPr>
          <a:xfrm>
            <a:off x="840688" y="4167153"/>
            <a:ext cx="5869582" cy="4242"/>
          </a:xfrm>
          <a:prstGeom prst="line">
            <a:avLst/>
          </a:prstGeom>
          <a:ln cap="flat" w="19050">
            <a:solidFill>
              <a:srgbClr val="C9B8A7"/>
            </a:solidFill>
            <a:prstDash val="solid"/>
            <a:headEnd type="none" len="sm" w="sm"/>
            <a:tailEnd type="none" len="sm" w="sm"/>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156092" y="521900"/>
            <a:ext cx="1006014" cy="468201"/>
          </a:xfrm>
          <a:custGeom>
            <a:avLst/>
            <a:gdLst/>
            <a:ahLst/>
            <a:cxnLst/>
            <a:rect r="r" b="b" t="t" l="l"/>
            <a:pathLst>
              <a:path h="468201" w="1006014">
                <a:moveTo>
                  <a:pt x="0" y="0"/>
                </a:moveTo>
                <a:lnTo>
                  <a:pt x="1006014" y="0"/>
                </a:lnTo>
                <a:lnTo>
                  <a:pt x="1006014" y="468200"/>
                </a:lnTo>
                <a:lnTo>
                  <a:pt x="0" y="468200"/>
                </a:lnTo>
                <a:lnTo>
                  <a:pt x="0" y="0"/>
                </a:lnTo>
                <a:close/>
              </a:path>
            </a:pathLst>
          </a:custGeom>
          <a:blipFill>
            <a:blip r:embed="rId2"/>
            <a:stretch>
              <a:fillRect l="0" t="0" r="0" b="0"/>
            </a:stretch>
          </a:blipFill>
        </p:spPr>
      </p:sp>
      <p:grpSp>
        <p:nvGrpSpPr>
          <p:cNvPr name="Group 3" id="3"/>
          <p:cNvGrpSpPr/>
          <p:nvPr/>
        </p:nvGrpSpPr>
        <p:grpSpPr>
          <a:xfrm rot="0">
            <a:off x="0" y="10278452"/>
            <a:ext cx="7560000" cy="413548"/>
            <a:chOff x="0" y="0"/>
            <a:chExt cx="8576120" cy="469132"/>
          </a:xfrm>
        </p:grpSpPr>
        <p:sp>
          <p:nvSpPr>
            <p:cNvPr name="Freeform 4" id="4"/>
            <p:cNvSpPr/>
            <p:nvPr/>
          </p:nvSpPr>
          <p:spPr>
            <a:xfrm flipH="false" flipV="false" rot="0">
              <a:off x="0" y="0"/>
              <a:ext cx="8576120" cy="469132"/>
            </a:xfrm>
            <a:custGeom>
              <a:avLst/>
              <a:gdLst/>
              <a:ahLst/>
              <a:cxnLst/>
              <a:rect r="r" b="b" t="t" l="l"/>
              <a:pathLst>
                <a:path h="469132" w="8576120">
                  <a:moveTo>
                    <a:pt x="0" y="0"/>
                  </a:moveTo>
                  <a:lnTo>
                    <a:pt x="8576120" y="0"/>
                  </a:lnTo>
                  <a:lnTo>
                    <a:pt x="8576120" y="469132"/>
                  </a:lnTo>
                  <a:lnTo>
                    <a:pt x="0" y="469132"/>
                  </a:lnTo>
                  <a:close/>
                </a:path>
              </a:pathLst>
            </a:custGeom>
            <a:solidFill>
              <a:srgbClr val="FAF6F1"/>
            </a:solidFill>
          </p:spPr>
        </p:sp>
        <p:sp>
          <p:nvSpPr>
            <p:cNvPr name="TextBox 5" id="5"/>
            <p:cNvSpPr txBox="true"/>
            <p:nvPr/>
          </p:nvSpPr>
          <p:spPr>
            <a:xfrm>
              <a:off x="0" y="-19050"/>
              <a:ext cx="8576120" cy="488182"/>
            </a:xfrm>
            <a:prstGeom prst="rect">
              <a:avLst/>
            </a:prstGeom>
          </p:spPr>
          <p:txBody>
            <a:bodyPr anchor="ctr" rtlCol="false" tIns="43486" lIns="43486" bIns="43486" rIns="43486"/>
            <a:lstStyle/>
            <a:p>
              <a:pPr algn="ctr">
                <a:lnSpc>
                  <a:spcPts val="599"/>
                </a:lnSpc>
              </a:pPr>
            </a:p>
          </p:txBody>
        </p:sp>
      </p:grpSp>
      <p:sp>
        <p:nvSpPr>
          <p:cNvPr name="TextBox 6" id="6"/>
          <p:cNvSpPr txBox="true"/>
          <p:nvPr/>
        </p:nvSpPr>
        <p:spPr>
          <a:xfrm rot="0">
            <a:off x="720000" y="1499039"/>
            <a:ext cx="4213670" cy="285750"/>
          </a:xfrm>
          <a:prstGeom prst="rect">
            <a:avLst/>
          </a:prstGeom>
        </p:spPr>
        <p:txBody>
          <a:bodyPr anchor="t" rtlCol="false" tIns="0" lIns="0" bIns="0" rIns="0">
            <a:spAutoFit/>
          </a:bodyPr>
          <a:lstStyle/>
          <a:p>
            <a:pPr algn="l" marL="0" indent="0" lvl="0">
              <a:lnSpc>
                <a:spcPts val="2100"/>
              </a:lnSpc>
              <a:spcBef>
                <a:spcPct val="0"/>
              </a:spcBef>
            </a:pPr>
            <a:r>
              <a:rPr lang="en-US" b="true" sz="1500">
                <a:solidFill>
                  <a:srgbClr val="C9B8A7"/>
                </a:solidFill>
                <a:latin typeface="Ubuntu Bold"/>
                <a:ea typeface="Ubuntu Bold"/>
                <a:cs typeface="Ubuntu Bold"/>
                <a:sym typeface="Ubuntu Bold"/>
              </a:rPr>
              <a:t>ANEXO</a:t>
            </a:r>
          </a:p>
        </p:txBody>
      </p:sp>
      <p:sp>
        <p:nvSpPr>
          <p:cNvPr name="TextBox 7" id="7"/>
          <p:cNvSpPr txBox="true"/>
          <p:nvPr/>
        </p:nvSpPr>
        <p:spPr>
          <a:xfrm rot="0">
            <a:off x="720000" y="2850044"/>
            <a:ext cx="6120000" cy="6494145"/>
          </a:xfrm>
          <a:prstGeom prst="rect">
            <a:avLst/>
          </a:prstGeom>
        </p:spPr>
        <p:txBody>
          <a:bodyPr anchor="t" rtlCol="false" tIns="0" lIns="0" bIns="0" rIns="0">
            <a:spAutoFit/>
          </a:bodyPr>
          <a:lstStyle/>
          <a:p>
            <a:pPr algn="just">
              <a:lnSpc>
                <a:spcPts val="1679"/>
              </a:lnSpc>
            </a:pPr>
            <a:r>
              <a:rPr lang="en-US" sz="1200">
                <a:solidFill>
                  <a:srgbClr val="000000"/>
                </a:solidFill>
                <a:latin typeface="Roboto"/>
                <a:ea typeface="Roboto"/>
                <a:cs typeface="Roboto"/>
                <a:sym typeface="Roboto"/>
              </a:rPr>
              <a:t>El presente anexo tiene por objeto precisar los términos, condiciones y responsabilidades aplicables a la prestación de nuestros servicios profesionales. Este anexo y la propuesta de servicios profesionales constituirán conjuntamente el contrato de servicios entre ustedes y nosotros. Estos términos se mantendrán en vigencia hasta que sean modificados por escrito, en conformidad con ambas partes.</a:t>
            </a:r>
          </a:p>
          <a:p>
            <a:pPr algn="just">
              <a:lnSpc>
                <a:spcPts val="1679"/>
              </a:lnSpc>
            </a:pPr>
          </a:p>
          <a:p>
            <a:pPr algn="just">
              <a:lnSpc>
                <a:spcPts val="1679"/>
              </a:lnSpc>
            </a:pPr>
            <a:r>
              <a:rPr lang="en-US" sz="1200" b="true">
                <a:solidFill>
                  <a:srgbClr val="000000"/>
                </a:solidFill>
                <a:latin typeface="Roboto Bold"/>
                <a:ea typeface="Roboto Bold"/>
                <a:cs typeface="Roboto Bold"/>
                <a:sym typeface="Roboto Bold"/>
              </a:rPr>
              <a:t>1)</a:t>
            </a:r>
            <a:r>
              <a:rPr lang="en-US" sz="1200">
                <a:solidFill>
                  <a:srgbClr val="000000"/>
                </a:solidFill>
                <a:latin typeface="Roboto"/>
                <a:ea typeface="Roboto"/>
                <a:cs typeface="Roboto"/>
                <a:sym typeface="Roboto"/>
              </a:rPr>
              <a:t> La responsabilidad de MXA se encontrará acotada al objeto de los servicios que desarrolle MXA con acuerdo del cliente, descritos en el capítulo de alcance de nuestros servicios de la presente propuesta.</a:t>
            </a:r>
          </a:p>
          <a:p>
            <a:pPr algn="just">
              <a:lnSpc>
                <a:spcPts val="1679"/>
              </a:lnSpc>
            </a:pPr>
          </a:p>
          <a:p>
            <a:pPr algn="just">
              <a:lnSpc>
                <a:spcPts val="1679"/>
              </a:lnSpc>
            </a:pPr>
            <a:r>
              <a:rPr lang="en-US" b="true" sz="1200">
                <a:solidFill>
                  <a:srgbClr val="000000"/>
                </a:solidFill>
                <a:latin typeface="Roboto Bold"/>
                <a:ea typeface="Roboto Bold"/>
                <a:cs typeface="Roboto Bold"/>
                <a:sym typeface="Roboto Bold"/>
              </a:rPr>
              <a:t>2)</a:t>
            </a:r>
            <a:r>
              <a:rPr lang="en-US" sz="1200">
                <a:solidFill>
                  <a:srgbClr val="000000"/>
                </a:solidFill>
                <a:latin typeface="Roboto"/>
                <a:ea typeface="Roboto"/>
                <a:cs typeface="Roboto"/>
                <a:sym typeface="Roboto"/>
              </a:rPr>
              <a:t> Los servicios prestados por MXA serán realizados siguiendo los criterios técnicos generalmente aplicados en el asesoramiento a nuestros clientes. No obstante, de tratarse de criterios que pudieran generar algún nivel de controversia con las autoridades públicas, pondremos en conocimiento de este hecho a la respectiva gerencia del cliente, señalando las observaciones que correspondieren. Las opiniones cursadas por MXA en el desarrollo de nuestros servicios se basarán en nuestro leal saber y entender, con relación a lo que entendemos una razonable interpretación de las normas respectivas en atención a las pautas aceptadas por el Derecho Positivo, la doctrina y/o la jurisprudencia, y, en tanto la materia que nos ocupa presente temas opinables, no podremos asegurar que la Administración o los Tribunales llamados a entender en un caso compartan íntegramente nuestras conclusiones y sugerencias. En aquellas situaciones respecto de las cuales sea de nuestro conocimiento que nuestra opinión sobre un tema específico no resulte coincidente con la de las autoridades competentes o existan opiniones doctrinarias contrarias a nuestro punto de vista, expondremos ambas opiniones así como sus fundamentos, exponiendo también –si los hubiere- los pronunciamientos jurisprudenciales al respecto, a fin de que la respectiva gerencia disponga de los elementos de juicio para que el cliente tome la mejor decisión a la luz de sus intereses. De acuerdo con lo expuesto, nuestros profesionales actuarán con el máximo deber de diligencia y probidad, pero ni ellos ni MXA asumen responsabilidad alguna por el eventual resultado adverso que derivara para el cliente de las decisiones que finalmente adopte, por cuanto nuestra labor importa una obligación de medios y no de resultados.</a:t>
            </a:r>
          </a:p>
        </p:txBody>
      </p:sp>
      <p:sp>
        <p:nvSpPr>
          <p:cNvPr name="TextBox 8" id="8"/>
          <p:cNvSpPr txBox="true"/>
          <p:nvPr/>
        </p:nvSpPr>
        <p:spPr>
          <a:xfrm rot="0">
            <a:off x="720000" y="2216134"/>
            <a:ext cx="5425484" cy="212090"/>
          </a:xfrm>
          <a:prstGeom prst="rect">
            <a:avLst/>
          </a:prstGeom>
        </p:spPr>
        <p:txBody>
          <a:bodyPr anchor="t" rtlCol="false" tIns="0" lIns="0" bIns="0" rIns="0">
            <a:spAutoFit/>
          </a:bodyPr>
          <a:lstStyle/>
          <a:p>
            <a:pPr algn="l">
              <a:lnSpc>
                <a:spcPts val="1689"/>
              </a:lnSpc>
            </a:pPr>
            <a:r>
              <a:rPr lang="en-US" b="true" sz="1299">
                <a:solidFill>
                  <a:srgbClr val="C9B8A7"/>
                </a:solidFill>
                <a:latin typeface="Ubuntu Bold"/>
                <a:ea typeface="Ubuntu Bold"/>
                <a:cs typeface="Ubuntu Bold"/>
                <a:sym typeface="Ubuntu Bold"/>
              </a:rPr>
              <a:t>Términos y condiciones</a:t>
            </a:r>
          </a:p>
        </p:txBody>
      </p:sp>
      <p:grpSp>
        <p:nvGrpSpPr>
          <p:cNvPr name="Group 9" id="9"/>
          <p:cNvGrpSpPr/>
          <p:nvPr/>
        </p:nvGrpSpPr>
        <p:grpSpPr>
          <a:xfrm rot="0">
            <a:off x="362278" y="10424181"/>
            <a:ext cx="6873841" cy="153289"/>
            <a:chOff x="0" y="0"/>
            <a:chExt cx="9165122" cy="204386"/>
          </a:xfrm>
        </p:grpSpPr>
        <p:sp>
          <p:nvSpPr>
            <p:cNvPr name="TextBox 10" id="10"/>
            <p:cNvSpPr txBox="true"/>
            <p:nvPr/>
          </p:nvSpPr>
          <p:spPr>
            <a:xfrm rot="0">
              <a:off x="0" y="-28575"/>
              <a:ext cx="1215409" cy="232961"/>
            </a:xfrm>
            <a:prstGeom prst="rect">
              <a:avLst/>
            </a:prstGeom>
          </p:spPr>
          <p:txBody>
            <a:bodyPr anchor="t" rtlCol="false" tIns="0" lIns="0" bIns="0" rIns="0">
              <a:spAutoFit/>
            </a:bodyPr>
            <a:lstStyle/>
            <a:p>
              <a:pPr algn="ctr">
                <a:lnSpc>
                  <a:spcPts val="1438"/>
                </a:lnSpc>
                <a:spcBef>
                  <a:spcPct val="0"/>
                </a:spcBef>
              </a:pPr>
              <a:r>
                <a:rPr lang="en-US" sz="1027" spc="159">
                  <a:solidFill>
                    <a:srgbClr val="282828"/>
                  </a:solidFill>
                  <a:latin typeface="Roboto"/>
                  <a:ea typeface="Roboto"/>
                  <a:cs typeface="Roboto"/>
                  <a:sym typeface="Roboto"/>
                </a:rPr>
                <a:t>mxa.com.uy</a:t>
              </a:r>
            </a:p>
          </p:txBody>
        </p:sp>
        <p:sp>
          <p:nvSpPr>
            <p:cNvPr name="TextBox 11" id="11"/>
            <p:cNvSpPr txBox="true"/>
            <p:nvPr/>
          </p:nvSpPr>
          <p:spPr>
            <a:xfrm rot="0">
              <a:off x="3639027" y="3419"/>
              <a:ext cx="2146364" cy="183331"/>
            </a:xfrm>
            <a:prstGeom prst="rect">
              <a:avLst/>
            </a:prstGeom>
          </p:spPr>
          <p:txBody>
            <a:bodyPr anchor="t" rtlCol="false" tIns="0" lIns="0" bIns="0" rIns="0">
              <a:spAutoFit/>
            </a:bodyPr>
            <a:lstStyle/>
            <a:p>
              <a:pPr algn="ctr">
                <a:lnSpc>
                  <a:spcPts val="1198"/>
                </a:lnSpc>
              </a:pPr>
              <a:r>
                <a:rPr lang="en-US" sz="856" spc="56">
                  <a:solidFill>
                    <a:srgbClr val="282828"/>
                  </a:solidFill>
                  <a:latin typeface="Roboto"/>
                  <a:ea typeface="Roboto"/>
                  <a:cs typeface="Roboto"/>
                  <a:sym typeface="Roboto"/>
                </a:rPr>
                <a:t>Bvr. Gral. Artigas 417 piso 7     </a:t>
              </a:r>
            </a:p>
          </p:txBody>
        </p:sp>
        <p:sp>
          <p:nvSpPr>
            <p:cNvPr name="TextBox 12" id="12"/>
            <p:cNvSpPr txBox="true"/>
            <p:nvPr/>
          </p:nvSpPr>
          <p:spPr>
            <a:xfrm rot="0">
              <a:off x="7486068" y="1002"/>
              <a:ext cx="1679054" cy="183331"/>
            </a:xfrm>
            <a:prstGeom prst="rect">
              <a:avLst/>
            </a:prstGeom>
          </p:spPr>
          <p:txBody>
            <a:bodyPr anchor="t" rtlCol="false" tIns="0" lIns="0" bIns="0" rIns="0">
              <a:spAutoFit/>
            </a:bodyPr>
            <a:lstStyle/>
            <a:p>
              <a:pPr algn="r">
                <a:lnSpc>
                  <a:spcPts val="1198"/>
                </a:lnSpc>
              </a:pPr>
              <a:r>
                <a:rPr lang="en-US" sz="856" spc="56">
                  <a:solidFill>
                    <a:srgbClr val="282828"/>
                  </a:solidFill>
                  <a:latin typeface="Roboto"/>
                  <a:ea typeface="Roboto"/>
                  <a:cs typeface="Roboto"/>
                  <a:sym typeface="Roboto"/>
                </a:rPr>
                <a:t>  </a:t>
              </a:r>
              <a:r>
                <a:rPr lang="en-US" sz="856" spc="56">
                  <a:solidFill>
                    <a:srgbClr val="282828"/>
                  </a:solidFill>
                  <a:latin typeface="Roboto"/>
                  <a:ea typeface="Roboto"/>
                  <a:cs typeface="Roboto"/>
                  <a:sym typeface="Roboto"/>
                </a:rPr>
                <a:t>Montevideo, Uruguay</a:t>
              </a:r>
            </a:p>
          </p:txBody>
        </p:sp>
        <p:sp>
          <p:nvSpPr>
            <p:cNvPr name="TextBox 13" id="13"/>
            <p:cNvSpPr txBox="true"/>
            <p:nvPr/>
          </p:nvSpPr>
          <p:spPr>
            <a:xfrm rot="0">
              <a:off x="6013218" y="1002"/>
              <a:ext cx="1378609" cy="183331"/>
            </a:xfrm>
            <a:prstGeom prst="rect">
              <a:avLst/>
            </a:prstGeom>
          </p:spPr>
          <p:txBody>
            <a:bodyPr anchor="t" rtlCol="false" tIns="0" lIns="0" bIns="0" rIns="0">
              <a:spAutoFit/>
            </a:bodyPr>
            <a:lstStyle/>
            <a:p>
              <a:pPr algn="ctr">
                <a:lnSpc>
                  <a:spcPts val="1198"/>
                </a:lnSpc>
              </a:pPr>
              <a:r>
                <a:rPr lang="en-US" sz="856" spc="56">
                  <a:solidFill>
                    <a:srgbClr val="282828"/>
                  </a:solidFill>
                  <a:latin typeface="Roboto"/>
                  <a:ea typeface="Roboto"/>
                  <a:cs typeface="Roboto"/>
                  <a:sym typeface="Roboto"/>
                </a:rPr>
                <a:t>Punta Carretas</a:t>
              </a:r>
            </a:p>
          </p:txBody>
        </p:sp>
        <p:sp>
          <p:nvSpPr>
            <p:cNvPr name="TextBox 14" id="14"/>
            <p:cNvSpPr txBox="true"/>
            <p:nvPr/>
          </p:nvSpPr>
          <p:spPr>
            <a:xfrm rot="0">
              <a:off x="1747465" y="1002"/>
              <a:ext cx="1508433" cy="185748"/>
            </a:xfrm>
            <a:prstGeom prst="rect">
              <a:avLst/>
            </a:prstGeom>
          </p:spPr>
          <p:txBody>
            <a:bodyPr anchor="t" rtlCol="false" tIns="0" lIns="0" bIns="0" rIns="0">
              <a:spAutoFit/>
            </a:bodyPr>
            <a:lstStyle/>
            <a:p>
              <a:pPr algn="ctr">
                <a:lnSpc>
                  <a:spcPts val="1198"/>
                </a:lnSpc>
                <a:spcBef>
                  <a:spcPct val="0"/>
                </a:spcBef>
              </a:pPr>
              <a:r>
                <a:rPr lang="en-US" sz="856" spc="132">
                  <a:solidFill>
                    <a:srgbClr val="282828"/>
                  </a:solidFill>
                  <a:latin typeface="Roboto"/>
                  <a:ea typeface="Roboto"/>
                  <a:cs typeface="Roboto"/>
                  <a:sym typeface="Roboto"/>
                </a:rPr>
                <a:t>(+598) 2712 6550</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156092" y="521900"/>
            <a:ext cx="1006014" cy="468201"/>
          </a:xfrm>
          <a:custGeom>
            <a:avLst/>
            <a:gdLst/>
            <a:ahLst/>
            <a:cxnLst/>
            <a:rect r="r" b="b" t="t" l="l"/>
            <a:pathLst>
              <a:path h="468201" w="1006014">
                <a:moveTo>
                  <a:pt x="0" y="0"/>
                </a:moveTo>
                <a:lnTo>
                  <a:pt x="1006014" y="0"/>
                </a:lnTo>
                <a:lnTo>
                  <a:pt x="1006014" y="468200"/>
                </a:lnTo>
                <a:lnTo>
                  <a:pt x="0" y="468200"/>
                </a:lnTo>
                <a:lnTo>
                  <a:pt x="0" y="0"/>
                </a:lnTo>
                <a:close/>
              </a:path>
            </a:pathLst>
          </a:custGeom>
          <a:blipFill>
            <a:blip r:embed="rId2"/>
            <a:stretch>
              <a:fillRect l="0" t="0" r="0" b="0"/>
            </a:stretch>
          </a:blipFill>
        </p:spPr>
      </p:sp>
      <p:grpSp>
        <p:nvGrpSpPr>
          <p:cNvPr name="Group 3" id="3"/>
          <p:cNvGrpSpPr/>
          <p:nvPr/>
        </p:nvGrpSpPr>
        <p:grpSpPr>
          <a:xfrm rot="0">
            <a:off x="0" y="10278452"/>
            <a:ext cx="7560000" cy="413548"/>
            <a:chOff x="0" y="0"/>
            <a:chExt cx="8576120" cy="469132"/>
          </a:xfrm>
        </p:grpSpPr>
        <p:sp>
          <p:nvSpPr>
            <p:cNvPr name="Freeform 4" id="4"/>
            <p:cNvSpPr/>
            <p:nvPr/>
          </p:nvSpPr>
          <p:spPr>
            <a:xfrm flipH="false" flipV="false" rot="0">
              <a:off x="0" y="0"/>
              <a:ext cx="8576120" cy="469132"/>
            </a:xfrm>
            <a:custGeom>
              <a:avLst/>
              <a:gdLst/>
              <a:ahLst/>
              <a:cxnLst/>
              <a:rect r="r" b="b" t="t" l="l"/>
              <a:pathLst>
                <a:path h="469132" w="8576120">
                  <a:moveTo>
                    <a:pt x="0" y="0"/>
                  </a:moveTo>
                  <a:lnTo>
                    <a:pt x="8576120" y="0"/>
                  </a:lnTo>
                  <a:lnTo>
                    <a:pt x="8576120" y="469132"/>
                  </a:lnTo>
                  <a:lnTo>
                    <a:pt x="0" y="469132"/>
                  </a:lnTo>
                  <a:close/>
                </a:path>
              </a:pathLst>
            </a:custGeom>
            <a:solidFill>
              <a:srgbClr val="FAF6F1"/>
            </a:solidFill>
          </p:spPr>
        </p:sp>
        <p:sp>
          <p:nvSpPr>
            <p:cNvPr name="TextBox 5" id="5"/>
            <p:cNvSpPr txBox="true"/>
            <p:nvPr/>
          </p:nvSpPr>
          <p:spPr>
            <a:xfrm>
              <a:off x="0" y="-19050"/>
              <a:ext cx="8576120" cy="488182"/>
            </a:xfrm>
            <a:prstGeom prst="rect">
              <a:avLst/>
            </a:prstGeom>
          </p:spPr>
          <p:txBody>
            <a:bodyPr anchor="ctr" rtlCol="false" tIns="43486" lIns="43486" bIns="43486" rIns="43486"/>
            <a:lstStyle/>
            <a:p>
              <a:pPr algn="ctr">
                <a:lnSpc>
                  <a:spcPts val="599"/>
                </a:lnSpc>
              </a:pPr>
            </a:p>
          </p:txBody>
        </p:sp>
      </p:grpSp>
      <p:sp>
        <p:nvSpPr>
          <p:cNvPr name="TextBox 6" id="6"/>
          <p:cNvSpPr txBox="true"/>
          <p:nvPr/>
        </p:nvSpPr>
        <p:spPr>
          <a:xfrm rot="0">
            <a:off x="720000" y="1446975"/>
            <a:ext cx="4213670" cy="285750"/>
          </a:xfrm>
          <a:prstGeom prst="rect">
            <a:avLst/>
          </a:prstGeom>
        </p:spPr>
        <p:txBody>
          <a:bodyPr anchor="t" rtlCol="false" tIns="0" lIns="0" bIns="0" rIns="0">
            <a:spAutoFit/>
          </a:bodyPr>
          <a:lstStyle/>
          <a:p>
            <a:pPr algn="l" marL="0" indent="0" lvl="0">
              <a:lnSpc>
                <a:spcPts val="2100"/>
              </a:lnSpc>
              <a:spcBef>
                <a:spcPct val="0"/>
              </a:spcBef>
            </a:pPr>
            <a:r>
              <a:rPr lang="en-US" b="true" sz="1500">
                <a:solidFill>
                  <a:srgbClr val="C9B8A7"/>
                </a:solidFill>
                <a:latin typeface="Ubuntu Bold"/>
                <a:ea typeface="Ubuntu Bold"/>
                <a:cs typeface="Ubuntu Bold"/>
                <a:sym typeface="Ubuntu Bold"/>
              </a:rPr>
              <a:t>ANEXO</a:t>
            </a:r>
          </a:p>
        </p:txBody>
      </p:sp>
      <p:sp>
        <p:nvSpPr>
          <p:cNvPr name="TextBox 7" id="7"/>
          <p:cNvSpPr txBox="true"/>
          <p:nvPr/>
        </p:nvSpPr>
        <p:spPr>
          <a:xfrm rot="0">
            <a:off x="702927" y="2864881"/>
            <a:ext cx="6137073" cy="5865495"/>
          </a:xfrm>
          <a:prstGeom prst="rect">
            <a:avLst/>
          </a:prstGeom>
        </p:spPr>
        <p:txBody>
          <a:bodyPr anchor="t" rtlCol="false" tIns="0" lIns="0" bIns="0" rIns="0">
            <a:spAutoFit/>
          </a:bodyPr>
          <a:lstStyle/>
          <a:p>
            <a:pPr algn="just">
              <a:lnSpc>
                <a:spcPts val="1679"/>
              </a:lnSpc>
            </a:pPr>
            <a:r>
              <a:rPr lang="en-US" sz="1200" b="true">
                <a:solidFill>
                  <a:srgbClr val="000000"/>
                </a:solidFill>
                <a:latin typeface="Roboto Bold"/>
                <a:ea typeface="Roboto Bold"/>
                <a:cs typeface="Roboto Bold"/>
                <a:sym typeface="Roboto Bold"/>
              </a:rPr>
              <a:t>3)</a:t>
            </a:r>
            <a:r>
              <a:rPr lang="en-US" sz="1200">
                <a:solidFill>
                  <a:srgbClr val="000000"/>
                </a:solidFill>
                <a:latin typeface="Roboto"/>
                <a:ea typeface="Roboto"/>
                <a:cs typeface="Roboto"/>
                <a:sym typeface="Roboto"/>
              </a:rPr>
              <a:t> Los servicios prestados por MXA se realizarán con base en las normas jurídicas, los pronunciamientos administrativos, las opiniones doctrinarias y los antecedentes jurisprudenciales vigentes o dictados en el momento de su conclusión. Cambios en las normas jurídicas actuales o en su aplicación por la Administración o los Tribunales pueden ocurrir antes que nuestro informe sea emitido en forma final, o más aún, sus efectos pueden ser retroactivos. No nos responsabilizamos por los cambios en las normas jurídicas o en las posiciones de la Administración o los Tribunales que puedan ocurrir después de terminados nuestros trabajos.</a:t>
            </a:r>
          </a:p>
          <a:p>
            <a:pPr algn="l">
              <a:lnSpc>
                <a:spcPts val="1679"/>
              </a:lnSpc>
            </a:pPr>
          </a:p>
          <a:p>
            <a:pPr algn="l">
              <a:lnSpc>
                <a:spcPts val="1679"/>
              </a:lnSpc>
            </a:pPr>
          </a:p>
          <a:p>
            <a:pPr algn="just">
              <a:lnSpc>
                <a:spcPts val="1679"/>
              </a:lnSpc>
            </a:pPr>
            <a:r>
              <a:rPr lang="en-US" sz="1200" b="true">
                <a:solidFill>
                  <a:srgbClr val="000000"/>
                </a:solidFill>
                <a:latin typeface="Roboto Bold"/>
                <a:ea typeface="Roboto Bold"/>
                <a:cs typeface="Roboto Bold"/>
                <a:sym typeface="Roboto Bold"/>
              </a:rPr>
              <a:t>4)</a:t>
            </a:r>
            <a:r>
              <a:rPr lang="en-US" sz="1200">
                <a:solidFill>
                  <a:srgbClr val="000000"/>
                </a:solidFill>
                <a:latin typeface="Roboto"/>
                <a:ea typeface="Roboto"/>
                <a:cs typeface="Roboto"/>
                <a:sym typeface="Roboto"/>
              </a:rPr>
              <a:t> La responsabilidad que asume MXA por la prestación de sus servicios al cliente no comprende las consecuencias derivadas de errores en la preparación de la información suministrada por el cliente, ni las provenientes de hechos que se encuentren fuera del conocimiento de los responsables de nuestro equipo. Será responsabilidad del cliente poner a nuestra disposición en forma y plazos oportunos la documentación y/o información requerida para la realización de nuestra tarea y que será oportunamente solicitada. Queda entendido que MXA no responderá por la veracidad y estado de actualización de la información que le sea suministrada a los fines de la realización de su tarea, como así tampoco por omisiones u ocultamientos en la entrega de documentación y medios probatorios en general por parte del cliente.</a:t>
            </a:r>
          </a:p>
          <a:p>
            <a:pPr algn="l">
              <a:lnSpc>
                <a:spcPts val="1679"/>
              </a:lnSpc>
            </a:pPr>
          </a:p>
          <a:p>
            <a:pPr algn="just">
              <a:lnSpc>
                <a:spcPts val="1679"/>
              </a:lnSpc>
            </a:pPr>
            <a:r>
              <a:rPr lang="en-US" b="true" sz="1200">
                <a:solidFill>
                  <a:srgbClr val="000000"/>
                </a:solidFill>
                <a:latin typeface="Roboto Bold"/>
                <a:ea typeface="Roboto Bold"/>
                <a:cs typeface="Roboto Bold"/>
                <a:sym typeface="Roboto Bold"/>
              </a:rPr>
              <a:t>5)</a:t>
            </a:r>
            <a:r>
              <a:rPr lang="en-US" sz="1200">
                <a:solidFill>
                  <a:srgbClr val="000000"/>
                </a:solidFill>
                <a:latin typeface="Roboto"/>
                <a:ea typeface="Roboto"/>
                <a:cs typeface="Roboto"/>
                <a:sym typeface="Roboto"/>
              </a:rPr>
              <a:t> MXA no ha sido contratada con el propósito de prestar actividades gerenciales o tomar decisiones en nombre de ustedes y no lo haremos. La prestación de nuestros servicios no tiene como objeto detectar fraudes, engaños o cualquier otro tipo de maniobra dolosa que pudieran generarse, a modo de ejemplo, por ventas no declaradas, compras o servicios inexistentes, etc. La labor a desarrollar por MXA no incluirá un examen detallado de las transacciones, como el que sería necesario realizar para revelar equivocaciones que causaron un error significativo en la falta de cumplimiento de las obligaciones del cliente.</a:t>
            </a:r>
          </a:p>
        </p:txBody>
      </p:sp>
      <p:sp>
        <p:nvSpPr>
          <p:cNvPr name="TextBox 8" id="8"/>
          <p:cNvSpPr txBox="true"/>
          <p:nvPr/>
        </p:nvSpPr>
        <p:spPr>
          <a:xfrm rot="0">
            <a:off x="730608" y="2199450"/>
            <a:ext cx="5425484" cy="212090"/>
          </a:xfrm>
          <a:prstGeom prst="rect">
            <a:avLst/>
          </a:prstGeom>
        </p:spPr>
        <p:txBody>
          <a:bodyPr anchor="t" rtlCol="false" tIns="0" lIns="0" bIns="0" rIns="0">
            <a:spAutoFit/>
          </a:bodyPr>
          <a:lstStyle/>
          <a:p>
            <a:pPr algn="l">
              <a:lnSpc>
                <a:spcPts val="1689"/>
              </a:lnSpc>
            </a:pPr>
            <a:r>
              <a:rPr lang="en-US" b="true" sz="1299">
                <a:solidFill>
                  <a:srgbClr val="C9B8A7"/>
                </a:solidFill>
                <a:latin typeface="Ubuntu Bold"/>
                <a:ea typeface="Ubuntu Bold"/>
                <a:cs typeface="Ubuntu Bold"/>
                <a:sym typeface="Ubuntu Bold"/>
              </a:rPr>
              <a:t>Términos y condiciones</a:t>
            </a:r>
          </a:p>
        </p:txBody>
      </p:sp>
      <p:grpSp>
        <p:nvGrpSpPr>
          <p:cNvPr name="Group 9" id="9"/>
          <p:cNvGrpSpPr/>
          <p:nvPr/>
        </p:nvGrpSpPr>
        <p:grpSpPr>
          <a:xfrm rot="0">
            <a:off x="362278" y="10424181"/>
            <a:ext cx="6873841" cy="153289"/>
            <a:chOff x="0" y="0"/>
            <a:chExt cx="9165122" cy="204386"/>
          </a:xfrm>
        </p:grpSpPr>
        <p:sp>
          <p:nvSpPr>
            <p:cNvPr name="TextBox 10" id="10"/>
            <p:cNvSpPr txBox="true"/>
            <p:nvPr/>
          </p:nvSpPr>
          <p:spPr>
            <a:xfrm rot="0">
              <a:off x="0" y="-28575"/>
              <a:ext cx="1215409" cy="232961"/>
            </a:xfrm>
            <a:prstGeom prst="rect">
              <a:avLst/>
            </a:prstGeom>
          </p:spPr>
          <p:txBody>
            <a:bodyPr anchor="t" rtlCol="false" tIns="0" lIns="0" bIns="0" rIns="0">
              <a:spAutoFit/>
            </a:bodyPr>
            <a:lstStyle/>
            <a:p>
              <a:pPr algn="ctr">
                <a:lnSpc>
                  <a:spcPts val="1438"/>
                </a:lnSpc>
                <a:spcBef>
                  <a:spcPct val="0"/>
                </a:spcBef>
              </a:pPr>
              <a:r>
                <a:rPr lang="en-US" sz="1027" spc="159">
                  <a:solidFill>
                    <a:srgbClr val="282828"/>
                  </a:solidFill>
                  <a:latin typeface="Roboto"/>
                  <a:ea typeface="Roboto"/>
                  <a:cs typeface="Roboto"/>
                  <a:sym typeface="Roboto"/>
                </a:rPr>
                <a:t>mxa.com.uy</a:t>
              </a:r>
            </a:p>
          </p:txBody>
        </p:sp>
        <p:sp>
          <p:nvSpPr>
            <p:cNvPr name="TextBox 11" id="11"/>
            <p:cNvSpPr txBox="true"/>
            <p:nvPr/>
          </p:nvSpPr>
          <p:spPr>
            <a:xfrm rot="0">
              <a:off x="3639027" y="3419"/>
              <a:ext cx="2146364" cy="183331"/>
            </a:xfrm>
            <a:prstGeom prst="rect">
              <a:avLst/>
            </a:prstGeom>
          </p:spPr>
          <p:txBody>
            <a:bodyPr anchor="t" rtlCol="false" tIns="0" lIns="0" bIns="0" rIns="0">
              <a:spAutoFit/>
            </a:bodyPr>
            <a:lstStyle/>
            <a:p>
              <a:pPr algn="ctr">
                <a:lnSpc>
                  <a:spcPts val="1198"/>
                </a:lnSpc>
              </a:pPr>
              <a:r>
                <a:rPr lang="en-US" sz="856" spc="56">
                  <a:solidFill>
                    <a:srgbClr val="282828"/>
                  </a:solidFill>
                  <a:latin typeface="Roboto"/>
                  <a:ea typeface="Roboto"/>
                  <a:cs typeface="Roboto"/>
                  <a:sym typeface="Roboto"/>
                </a:rPr>
                <a:t>Bvr. Gral. Artigas 417 piso 7     </a:t>
              </a:r>
            </a:p>
          </p:txBody>
        </p:sp>
        <p:sp>
          <p:nvSpPr>
            <p:cNvPr name="TextBox 12" id="12"/>
            <p:cNvSpPr txBox="true"/>
            <p:nvPr/>
          </p:nvSpPr>
          <p:spPr>
            <a:xfrm rot="0">
              <a:off x="7486068" y="1002"/>
              <a:ext cx="1679054" cy="183331"/>
            </a:xfrm>
            <a:prstGeom prst="rect">
              <a:avLst/>
            </a:prstGeom>
          </p:spPr>
          <p:txBody>
            <a:bodyPr anchor="t" rtlCol="false" tIns="0" lIns="0" bIns="0" rIns="0">
              <a:spAutoFit/>
            </a:bodyPr>
            <a:lstStyle/>
            <a:p>
              <a:pPr algn="r">
                <a:lnSpc>
                  <a:spcPts val="1198"/>
                </a:lnSpc>
              </a:pPr>
              <a:r>
                <a:rPr lang="en-US" sz="856" spc="56">
                  <a:solidFill>
                    <a:srgbClr val="282828"/>
                  </a:solidFill>
                  <a:latin typeface="Roboto"/>
                  <a:ea typeface="Roboto"/>
                  <a:cs typeface="Roboto"/>
                  <a:sym typeface="Roboto"/>
                </a:rPr>
                <a:t>  </a:t>
              </a:r>
              <a:r>
                <a:rPr lang="en-US" sz="856" spc="56">
                  <a:solidFill>
                    <a:srgbClr val="282828"/>
                  </a:solidFill>
                  <a:latin typeface="Roboto"/>
                  <a:ea typeface="Roboto"/>
                  <a:cs typeface="Roboto"/>
                  <a:sym typeface="Roboto"/>
                </a:rPr>
                <a:t>Montevideo, Uruguay</a:t>
              </a:r>
            </a:p>
          </p:txBody>
        </p:sp>
        <p:sp>
          <p:nvSpPr>
            <p:cNvPr name="TextBox 13" id="13"/>
            <p:cNvSpPr txBox="true"/>
            <p:nvPr/>
          </p:nvSpPr>
          <p:spPr>
            <a:xfrm rot="0">
              <a:off x="6013218" y="1002"/>
              <a:ext cx="1378609" cy="183331"/>
            </a:xfrm>
            <a:prstGeom prst="rect">
              <a:avLst/>
            </a:prstGeom>
          </p:spPr>
          <p:txBody>
            <a:bodyPr anchor="t" rtlCol="false" tIns="0" lIns="0" bIns="0" rIns="0">
              <a:spAutoFit/>
            </a:bodyPr>
            <a:lstStyle/>
            <a:p>
              <a:pPr algn="ctr">
                <a:lnSpc>
                  <a:spcPts val="1198"/>
                </a:lnSpc>
              </a:pPr>
              <a:r>
                <a:rPr lang="en-US" sz="856" spc="56">
                  <a:solidFill>
                    <a:srgbClr val="282828"/>
                  </a:solidFill>
                  <a:latin typeface="Roboto"/>
                  <a:ea typeface="Roboto"/>
                  <a:cs typeface="Roboto"/>
                  <a:sym typeface="Roboto"/>
                </a:rPr>
                <a:t>Punta Carretas</a:t>
              </a:r>
            </a:p>
          </p:txBody>
        </p:sp>
        <p:sp>
          <p:nvSpPr>
            <p:cNvPr name="TextBox 14" id="14"/>
            <p:cNvSpPr txBox="true"/>
            <p:nvPr/>
          </p:nvSpPr>
          <p:spPr>
            <a:xfrm rot="0">
              <a:off x="1747465" y="1002"/>
              <a:ext cx="1508433" cy="185748"/>
            </a:xfrm>
            <a:prstGeom prst="rect">
              <a:avLst/>
            </a:prstGeom>
          </p:spPr>
          <p:txBody>
            <a:bodyPr anchor="t" rtlCol="false" tIns="0" lIns="0" bIns="0" rIns="0">
              <a:spAutoFit/>
            </a:bodyPr>
            <a:lstStyle/>
            <a:p>
              <a:pPr algn="ctr">
                <a:lnSpc>
                  <a:spcPts val="1198"/>
                </a:lnSpc>
                <a:spcBef>
                  <a:spcPct val="0"/>
                </a:spcBef>
              </a:pPr>
              <a:r>
                <a:rPr lang="en-US" sz="856" spc="132">
                  <a:solidFill>
                    <a:srgbClr val="282828"/>
                  </a:solidFill>
                  <a:latin typeface="Roboto"/>
                  <a:ea typeface="Roboto"/>
                  <a:cs typeface="Roboto"/>
                  <a:sym typeface="Roboto"/>
                </a:rPr>
                <a:t>(+598) 2712 6550</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156092" y="521900"/>
            <a:ext cx="1006014" cy="468201"/>
          </a:xfrm>
          <a:custGeom>
            <a:avLst/>
            <a:gdLst/>
            <a:ahLst/>
            <a:cxnLst/>
            <a:rect r="r" b="b" t="t" l="l"/>
            <a:pathLst>
              <a:path h="468201" w="1006014">
                <a:moveTo>
                  <a:pt x="0" y="0"/>
                </a:moveTo>
                <a:lnTo>
                  <a:pt x="1006014" y="0"/>
                </a:lnTo>
                <a:lnTo>
                  <a:pt x="1006014" y="468200"/>
                </a:lnTo>
                <a:lnTo>
                  <a:pt x="0" y="468200"/>
                </a:lnTo>
                <a:lnTo>
                  <a:pt x="0" y="0"/>
                </a:lnTo>
                <a:close/>
              </a:path>
            </a:pathLst>
          </a:custGeom>
          <a:blipFill>
            <a:blip r:embed="rId2"/>
            <a:stretch>
              <a:fillRect l="0" t="0" r="0" b="0"/>
            </a:stretch>
          </a:blipFill>
        </p:spPr>
      </p:sp>
      <p:grpSp>
        <p:nvGrpSpPr>
          <p:cNvPr name="Group 3" id="3"/>
          <p:cNvGrpSpPr/>
          <p:nvPr/>
        </p:nvGrpSpPr>
        <p:grpSpPr>
          <a:xfrm rot="0">
            <a:off x="0" y="10278452"/>
            <a:ext cx="7560000" cy="413548"/>
            <a:chOff x="0" y="0"/>
            <a:chExt cx="8576120" cy="469132"/>
          </a:xfrm>
        </p:grpSpPr>
        <p:sp>
          <p:nvSpPr>
            <p:cNvPr name="Freeform 4" id="4"/>
            <p:cNvSpPr/>
            <p:nvPr/>
          </p:nvSpPr>
          <p:spPr>
            <a:xfrm flipH="false" flipV="false" rot="0">
              <a:off x="0" y="0"/>
              <a:ext cx="8576120" cy="469132"/>
            </a:xfrm>
            <a:custGeom>
              <a:avLst/>
              <a:gdLst/>
              <a:ahLst/>
              <a:cxnLst/>
              <a:rect r="r" b="b" t="t" l="l"/>
              <a:pathLst>
                <a:path h="469132" w="8576120">
                  <a:moveTo>
                    <a:pt x="0" y="0"/>
                  </a:moveTo>
                  <a:lnTo>
                    <a:pt x="8576120" y="0"/>
                  </a:lnTo>
                  <a:lnTo>
                    <a:pt x="8576120" y="469132"/>
                  </a:lnTo>
                  <a:lnTo>
                    <a:pt x="0" y="469132"/>
                  </a:lnTo>
                  <a:close/>
                </a:path>
              </a:pathLst>
            </a:custGeom>
            <a:solidFill>
              <a:srgbClr val="FAF6F1"/>
            </a:solidFill>
          </p:spPr>
        </p:sp>
        <p:sp>
          <p:nvSpPr>
            <p:cNvPr name="TextBox 5" id="5"/>
            <p:cNvSpPr txBox="true"/>
            <p:nvPr/>
          </p:nvSpPr>
          <p:spPr>
            <a:xfrm>
              <a:off x="0" y="-19050"/>
              <a:ext cx="8576120" cy="488182"/>
            </a:xfrm>
            <a:prstGeom prst="rect">
              <a:avLst/>
            </a:prstGeom>
          </p:spPr>
          <p:txBody>
            <a:bodyPr anchor="ctr" rtlCol="false" tIns="43486" lIns="43486" bIns="43486" rIns="43486"/>
            <a:lstStyle/>
            <a:p>
              <a:pPr algn="ctr">
                <a:lnSpc>
                  <a:spcPts val="599"/>
                </a:lnSpc>
              </a:pPr>
            </a:p>
          </p:txBody>
        </p:sp>
      </p:grpSp>
      <p:sp>
        <p:nvSpPr>
          <p:cNvPr name="TextBox 6" id="6"/>
          <p:cNvSpPr txBox="true"/>
          <p:nvPr/>
        </p:nvSpPr>
        <p:spPr>
          <a:xfrm rot="0">
            <a:off x="756000" y="1460358"/>
            <a:ext cx="4213670" cy="285750"/>
          </a:xfrm>
          <a:prstGeom prst="rect">
            <a:avLst/>
          </a:prstGeom>
        </p:spPr>
        <p:txBody>
          <a:bodyPr anchor="t" rtlCol="false" tIns="0" lIns="0" bIns="0" rIns="0">
            <a:spAutoFit/>
          </a:bodyPr>
          <a:lstStyle/>
          <a:p>
            <a:pPr algn="l" marL="0" indent="0" lvl="0">
              <a:lnSpc>
                <a:spcPts val="2100"/>
              </a:lnSpc>
              <a:spcBef>
                <a:spcPct val="0"/>
              </a:spcBef>
            </a:pPr>
            <a:r>
              <a:rPr lang="en-US" b="true" sz="1500">
                <a:solidFill>
                  <a:srgbClr val="C9B8A7"/>
                </a:solidFill>
                <a:latin typeface="Ubuntu Bold"/>
                <a:ea typeface="Ubuntu Bold"/>
                <a:cs typeface="Ubuntu Bold"/>
                <a:sym typeface="Ubuntu Bold"/>
              </a:rPr>
              <a:t>ANEXO</a:t>
            </a:r>
          </a:p>
        </p:txBody>
      </p:sp>
      <p:sp>
        <p:nvSpPr>
          <p:cNvPr name="TextBox 7" id="7"/>
          <p:cNvSpPr txBox="true"/>
          <p:nvPr/>
        </p:nvSpPr>
        <p:spPr>
          <a:xfrm rot="0">
            <a:off x="729463" y="2923797"/>
            <a:ext cx="6101073" cy="6284595"/>
          </a:xfrm>
          <a:prstGeom prst="rect">
            <a:avLst/>
          </a:prstGeom>
        </p:spPr>
        <p:txBody>
          <a:bodyPr anchor="t" rtlCol="false" tIns="0" lIns="0" bIns="0" rIns="0">
            <a:spAutoFit/>
          </a:bodyPr>
          <a:lstStyle/>
          <a:p>
            <a:pPr algn="just">
              <a:lnSpc>
                <a:spcPts val="1679"/>
              </a:lnSpc>
            </a:pPr>
            <a:r>
              <a:rPr lang="en-US" sz="1200" b="true">
                <a:solidFill>
                  <a:srgbClr val="000000"/>
                </a:solidFill>
                <a:latin typeface="Roboto Bold"/>
                <a:ea typeface="Roboto Bold"/>
                <a:cs typeface="Roboto Bold"/>
                <a:sym typeface="Roboto Bold"/>
              </a:rPr>
              <a:t>6)</a:t>
            </a:r>
            <a:r>
              <a:rPr lang="en-US" sz="1200">
                <a:solidFill>
                  <a:srgbClr val="000000"/>
                </a:solidFill>
                <a:latin typeface="Roboto"/>
                <a:ea typeface="Roboto"/>
                <a:cs typeface="Roboto"/>
                <a:sym typeface="Roboto"/>
              </a:rPr>
              <a:t> El contenido de informes, comentarios y cualquier otro material producto de nuestros servicios o que contenga opinión técnica de nuestra organización se destina exclusivamente al conocimiento de personal calificado del cliente. La divulgación del contenido de estos materiales a terceros deberá someterse a nuestra previa y expresa autorización, así como a la confirmación por escrito que los destinatarios entienden y concuerdan con el carácter, el alcance y la extensión de nuestros trabajos y no los utilizarán para fines distintos de la necesidad interna de los organismos superiores de la administración del cliente. El cliente hará sus mejores esfuerzos para obtener de terceros el reconocimiento que nuestro trabajo no fue originalmente dirigido a ellos y que, por lo tanto, concuerdan en mantener a MXA y a sus funcionarios libres y a salvo de cualquier reclamo, acción, queja, demanda judicial o extrajudicial que pueda intentarse, así como de cualquier responsabilidad, obligación, costo, gasto, pérdida, inclusive honorarios de abogados o cualquier otro valor a cualquier título, que puedan estar relacionados, directa o indirectamente, con el acceso al resultado del trabajo objeto de esta propuesta. Además, acepta mantener a MXA y a sus funcionarios libres y a salvo de cualquier reclamo, acción, queja, demanda judicial o extrajudicial que pueda intentarse, así como de cualquier responsabilidad, costo, gasto, pérdida, inclusive honorarios de abogados o cualquier otro valor a cualquier título, que puedan ser eventualmente cobrados por terceros que hayan tenido acceso al resultado del trabajo objeto de esta propuesta.</a:t>
            </a:r>
          </a:p>
          <a:p>
            <a:pPr algn="l">
              <a:lnSpc>
                <a:spcPts val="1679"/>
              </a:lnSpc>
            </a:pPr>
          </a:p>
          <a:p>
            <a:pPr algn="just">
              <a:lnSpc>
                <a:spcPts val="1679"/>
              </a:lnSpc>
            </a:pPr>
            <a:r>
              <a:rPr lang="en-US" b="true" sz="1200">
                <a:solidFill>
                  <a:srgbClr val="000000"/>
                </a:solidFill>
                <a:latin typeface="Roboto Bold"/>
                <a:ea typeface="Roboto Bold"/>
                <a:cs typeface="Roboto Bold"/>
                <a:sym typeface="Roboto Bold"/>
              </a:rPr>
              <a:t>7)</a:t>
            </a:r>
            <a:r>
              <a:rPr lang="en-US" sz="1200">
                <a:solidFill>
                  <a:srgbClr val="000000"/>
                </a:solidFill>
                <a:latin typeface="Roboto"/>
                <a:ea typeface="Roboto"/>
                <a:cs typeface="Roboto"/>
                <a:sym typeface="Roboto"/>
              </a:rPr>
              <a:t> El cliente reconoce que los papeles de trabajo y archivos creados por MXA en el curso de los servicios prestados, incluyendo los documentos y archivos electrónicos, son propiedad exclusiva de MXA. Durante la realización de nuestros trabajos, tal vez se nos solicite hacer comentarios verbales y/o a suministrar minutas de informes escritos, presentaciones, cartas, copias impresas (o en otro medio) de papeles de trabajo y planillas electrónicas. Considerando que esas informaciones y documentos representan trabajo en curso y no nuestro informe final, no asumimos ninguna responsabilidad con relación al carácter definitivo que pueda darse con relación a las informaciones preliminares. Los resultados del trabajo serán informados en la versión final de nuestra correspondencia.</a:t>
            </a:r>
          </a:p>
        </p:txBody>
      </p:sp>
      <p:sp>
        <p:nvSpPr>
          <p:cNvPr name="TextBox 8" id="8"/>
          <p:cNvSpPr txBox="true"/>
          <p:nvPr/>
        </p:nvSpPr>
        <p:spPr>
          <a:xfrm rot="0">
            <a:off x="756000" y="2231883"/>
            <a:ext cx="5425484" cy="212090"/>
          </a:xfrm>
          <a:prstGeom prst="rect">
            <a:avLst/>
          </a:prstGeom>
        </p:spPr>
        <p:txBody>
          <a:bodyPr anchor="t" rtlCol="false" tIns="0" lIns="0" bIns="0" rIns="0">
            <a:spAutoFit/>
          </a:bodyPr>
          <a:lstStyle/>
          <a:p>
            <a:pPr algn="l">
              <a:lnSpc>
                <a:spcPts val="1689"/>
              </a:lnSpc>
            </a:pPr>
            <a:r>
              <a:rPr lang="en-US" b="true" sz="1299">
                <a:solidFill>
                  <a:srgbClr val="C9B8A7"/>
                </a:solidFill>
                <a:latin typeface="Ubuntu Bold"/>
                <a:ea typeface="Ubuntu Bold"/>
                <a:cs typeface="Ubuntu Bold"/>
                <a:sym typeface="Ubuntu Bold"/>
              </a:rPr>
              <a:t>Términos y condiciones</a:t>
            </a:r>
          </a:p>
        </p:txBody>
      </p:sp>
      <p:grpSp>
        <p:nvGrpSpPr>
          <p:cNvPr name="Group 9" id="9"/>
          <p:cNvGrpSpPr/>
          <p:nvPr/>
        </p:nvGrpSpPr>
        <p:grpSpPr>
          <a:xfrm rot="0">
            <a:off x="362278" y="10424181"/>
            <a:ext cx="6873841" cy="153289"/>
            <a:chOff x="0" y="0"/>
            <a:chExt cx="9165122" cy="204386"/>
          </a:xfrm>
        </p:grpSpPr>
        <p:sp>
          <p:nvSpPr>
            <p:cNvPr name="TextBox 10" id="10"/>
            <p:cNvSpPr txBox="true"/>
            <p:nvPr/>
          </p:nvSpPr>
          <p:spPr>
            <a:xfrm rot="0">
              <a:off x="0" y="-28575"/>
              <a:ext cx="1215409" cy="232961"/>
            </a:xfrm>
            <a:prstGeom prst="rect">
              <a:avLst/>
            </a:prstGeom>
          </p:spPr>
          <p:txBody>
            <a:bodyPr anchor="t" rtlCol="false" tIns="0" lIns="0" bIns="0" rIns="0">
              <a:spAutoFit/>
            </a:bodyPr>
            <a:lstStyle/>
            <a:p>
              <a:pPr algn="ctr">
                <a:lnSpc>
                  <a:spcPts val="1438"/>
                </a:lnSpc>
                <a:spcBef>
                  <a:spcPct val="0"/>
                </a:spcBef>
              </a:pPr>
              <a:r>
                <a:rPr lang="en-US" sz="1027" spc="159">
                  <a:solidFill>
                    <a:srgbClr val="282828"/>
                  </a:solidFill>
                  <a:latin typeface="Roboto"/>
                  <a:ea typeface="Roboto"/>
                  <a:cs typeface="Roboto"/>
                  <a:sym typeface="Roboto"/>
                </a:rPr>
                <a:t>mxa.com.uy</a:t>
              </a:r>
            </a:p>
          </p:txBody>
        </p:sp>
        <p:sp>
          <p:nvSpPr>
            <p:cNvPr name="TextBox 11" id="11"/>
            <p:cNvSpPr txBox="true"/>
            <p:nvPr/>
          </p:nvSpPr>
          <p:spPr>
            <a:xfrm rot="0">
              <a:off x="3639027" y="3419"/>
              <a:ext cx="2146364" cy="183331"/>
            </a:xfrm>
            <a:prstGeom prst="rect">
              <a:avLst/>
            </a:prstGeom>
          </p:spPr>
          <p:txBody>
            <a:bodyPr anchor="t" rtlCol="false" tIns="0" lIns="0" bIns="0" rIns="0">
              <a:spAutoFit/>
            </a:bodyPr>
            <a:lstStyle/>
            <a:p>
              <a:pPr algn="ctr">
                <a:lnSpc>
                  <a:spcPts val="1198"/>
                </a:lnSpc>
              </a:pPr>
              <a:r>
                <a:rPr lang="en-US" sz="856" spc="56">
                  <a:solidFill>
                    <a:srgbClr val="282828"/>
                  </a:solidFill>
                  <a:latin typeface="Roboto"/>
                  <a:ea typeface="Roboto"/>
                  <a:cs typeface="Roboto"/>
                  <a:sym typeface="Roboto"/>
                </a:rPr>
                <a:t>Bvr. Gral. Artigas 417 piso 7     </a:t>
              </a:r>
            </a:p>
          </p:txBody>
        </p:sp>
        <p:sp>
          <p:nvSpPr>
            <p:cNvPr name="TextBox 12" id="12"/>
            <p:cNvSpPr txBox="true"/>
            <p:nvPr/>
          </p:nvSpPr>
          <p:spPr>
            <a:xfrm rot="0">
              <a:off x="7486068" y="1002"/>
              <a:ext cx="1679054" cy="183331"/>
            </a:xfrm>
            <a:prstGeom prst="rect">
              <a:avLst/>
            </a:prstGeom>
          </p:spPr>
          <p:txBody>
            <a:bodyPr anchor="t" rtlCol="false" tIns="0" lIns="0" bIns="0" rIns="0">
              <a:spAutoFit/>
            </a:bodyPr>
            <a:lstStyle/>
            <a:p>
              <a:pPr algn="r">
                <a:lnSpc>
                  <a:spcPts val="1198"/>
                </a:lnSpc>
              </a:pPr>
              <a:r>
                <a:rPr lang="en-US" sz="856" spc="56">
                  <a:solidFill>
                    <a:srgbClr val="282828"/>
                  </a:solidFill>
                  <a:latin typeface="Roboto"/>
                  <a:ea typeface="Roboto"/>
                  <a:cs typeface="Roboto"/>
                  <a:sym typeface="Roboto"/>
                </a:rPr>
                <a:t>  </a:t>
              </a:r>
              <a:r>
                <a:rPr lang="en-US" sz="856" spc="56">
                  <a:solidFill>
                    <a:srgbClr val="282828"/>
                  </a:solidFill>
                  <a:latin typeface="Roboto"/>
                  <a:ea typeface="Roboto"/>
                  <a:cs typeface="Roboto"/>
                  <a:sym typeface="Roboto"/>
                </a:rPr>
                <a:t>Montevideo, Uruguay</a:t>
              </a:r>
            </a:p>
          </p:txBody>
        </p:sp>
        <p:sp>
          <p:nvSpPr>
            <p:cNvPr name="TextBox 13" id="13"/>
            <p:cNvSpPr txBox="true"/>
            <p:nvPr/>
          </p:nvSpPr>
          <p:spPr>
            <a:xfrm rot="0">
              <a:off x="6013218" y="1002"/>
              <a:ext cx="1378609" cy="183331"/>
            </a:xfrm>
            <a:prstGeom prst="rect">
              <a:avLst/>
            </a:prstGeom>
          </p:spPr>
          <p:txBody>
            <a:bodyPr anchor="t" rtlCol="false" tIns="0" lIns="0" bIns="0" rIns="0">
              <a:spAutoFit/>
            </a:bodyPr>
            <a:lstStyle/>
            <a:p>
              <a:pPr algn="ctr">
                <a:lnSpc>
                  <a:spcPts val="1198"/>
                </a:lnSpc>
              </a:pPr>
              <a:r>
                <a:rPr lang="en-US" sz="856" spc="56">
                  <a:solidFill>
                    <a:srgbClr val="282828"/>
                  </a:solidFill>
                  <a:latin typeface="Roboto"/>
                  <a:ea typeface="Roboto"/>
                  <a:cs typeface="Roboto"/>
                  <a:sym typeface="Roboto"/>
                </a:rPr>
                <a:t>Punta Carretas</a:t>
              </a:r>
            </a:p>
          </p:txBody>
        </p:sp>
        <p:sp>
          <p:nvSpPr>
            <p:cNvPr name="TextBox 14" id="14"/>
            <p:cNvSpPr txBox="true"/>
            <p:nvPr/>
          </p:nvSpPr>
          <p:spPr>
            <a:xfrm rot="0">
              <a:off x="1747465" y="1002"/>
              <a:ext cx="1508433" cy="185748"/>
            </a:xfrm>
            <a:prstGeom prst="rect">
              <a:avLst/>
            </a:prstGeom>
          </p:spPr>
          <p:txBody>
            <a:bodyPr anchor="t" rtlCol="false" tIns="0" lIns="0" bIns="0" rIns="0">
              <a:spAutoFit/>
            </a:bodyPr>
            <a:lstStyle/>
            <a:p>
              <a:pPr algn="ctr">
                <a:lnSpc>
                  <a:spcPts val="1198"/>
                </a:lnSpc>
                <a:spcBef>
                  <a:spcPct val="0"/>
                </a:spcBef>
              </a:pPr>
              <a:r>
                <a:rPr lang="en-US" sz="856" spc="132">
                  <a:solidFill>
                    <a:srgbClr val="282828"/>
                  </a:solidFill>
                  <a:latin typeface="Roboto"/>
                  <a:ea typeface="Roboto"/>
                  <a:cs typeface="Roboto"/>
                  <a:sym typeface="Roboto"/>
                </a:rPr>
                <a:t>(+598) 2712 6550</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156092" y="521900"/>
            <a:ext cx="1006014" cy="468201"/>
          </a:xfrm>
          <a:custGeom>
            <a:avLst/>
            <a:gdLst/>
            <a:ahLst/>
            <a:cxnLst/>
            <a:rect r="r" b="b" t="t" l="l"/>
            <a:pathLst>
              <a:path h="468201" w="1006014">
                <a:moveTo>
                  <a:pt x="0" y="0"/>
                </a:moveTo>
                <a:lnTo>
                  <a:pt x="1006014" y="0"/>
                </a:lnTo>
                <a:lnTo>
                  <a:pt x="1006014" y="468200"/>
                </a:lnTo>
                <a:lnTo>
                  <a:pt x="0" y="468200"/>
                </a:lnTo>
                <a:lnTo>
                  <a:pt x="0" y="0"/>
                </a:lnTo>
                <a:close/>
              </a:path>
            </a:pathLst>
          </a:custGeom>
          <a:blipFill>
            <a:blip r:embed="rId2"/>
            <a:stretch>
              <a:fillRect l="0" t="0" r="0" b="0"/>
            </a:stretch>
          </a:blipFill>
        </p:spPr>
      </p:sp>
      <p:sp>
        <p:nvSpPr>
          <p:cNvPr name="TextBox 3" id="3"/>
          <p:cNvSpPr txBox="true"/>
          <p:nvPr/>
        </p:nvSpPr>
        <p:spPr>
          <a:xfrm rot="0">
            <a:off x="720000" y="1452275"/>
            <a:ext cx="4213670" cy="285750"/>
          </a:xfrm>
          <a:prstGeom prst="rect">
            <a:avLst/>
          </a:prstGeom>
        </p:spPr>
        <p:txBody>
          <a:bodyPr anchor="t" rtlCol="false" tIns="0" lIns="0" bIns="0" rIns="0">
            <a:spAutoFit/>
          </a:bodyPr>
          <a:lstStyle/>
          <a:p>
            <a:pPr algn="l" marL="0" indent="0" lvl="0">
              <a:lnSpc>
                <a:spcPts val="2100"/>
              </a:lnSpc>
              <a:spcBef>
                <a:spcPct val="0"/>
              </a:spcBef>
            </a:pPr>
            <a:r>
              <a:rPr lang="en-US" b="true" sz="1500">
                <a:solidFill>
                  <a:srgbClr val="C9B8A7"/>
                </a:solidFill>
                <a:latin typeface="Ubuntu Bold"/>
                <a:ea typeface="Ubuntu Bold"/>
                <a:cs typeface="Ubuntu Bold"/>
                <a:sym typeface="Ubuntu Bold"/>
              </a:rPr>
              <a:t>ANEXO</a:t>
            </a:r>
          </a:p>
        </p:txBody>
      </p:sp>
      <p:sp>
        <p:nvSpPr>
          <p:cNvPr name="TextBox 4" id="4"/>
          <p:cNvSpPr txBox="true"/>
          <p:nvPr/>
        </p:nvSpPr>
        <p:spPr>
          <a:xfrm rot="0">
            <a:off x="702927" y="2951682"/>
            <a:ext cx="6137073" cy="6075045"/>
          </a:xfrm>
          <a:prstGeom prst="rect">
            <a:avLst/>
          </a:prstGeom>
        </p:spPr>
        <p:txBody>
          <a:bodyPr anchor="t" rtlCol="false" tIns="0" lIns="0" bIns="0" rIns="0">
            <a:spAutoFit/>
          </a:bodyPr>
          <a:lstStyle/>
          <a:p>
            <a:pPr algn="just">
              <a:lnSpc>
                <a:spcPts val="1679"/>
              </a:lnSpc>
            </a:pPr>
            <a:r>
              <a:rPr lang="en-US" sz="1200" b="true">
                <a:solidFill>
                  <a:srgbClr val="000000"/>
                </a:solidFill>
                <a:latin typeface="Roboto Bold"/>
                <a:ea typeface="Roboto Bold"/>
                <a:cs typeface="Roboto Bold"/>
                <a:sym typeface="Roboto Bold"/>
              </a:rPr>
              <a:t>8)</a:t>
            </a:r>
            <a:r>
              <a:rPr lang="en-US" sz="1200">
                <a:solidFill>
                  <a:srgbClr val="000000"/>
                </a:solidFill>
                <a:latin typeface="Roboto"/>
                <a:ea typeface="Roboto"/>
                <a:cs typeface="Roboto"/>
                <a:sym typeface="Roboto"/>
              </a:rPr>
              <a:t> En el curso del trabajo pueden desarrollarse comunicaciones entre las partes por vía electrónica (e-mail). Sin embargo, las partes no pueden garantizarse que la transmisión electrónica de información sea segura o esté libre de errores y dicha información podría ser interceptada, dañada, perdida, destruida, llegar tarde o estar incompleta o ser afectada en forma adversa de otro modo o puede no ser seguro utilizarla; en consecuencia las partes no resultarán responsables ante el acaecimiento de algunos de estos hechos, como así tampoco de sus derivaciones, con excepción de aquellas que sean emergentes de un acto ilícito e intencionado. En el mismo sentido, si bien las partes se comprometen a utilizar procedimientos razonables para detectar los virus más comúnmente conocidos antes de enviar información en forma electrónica, las partes no tendrán ninguna responsabilidad frente a la otra, por daños emergentes o relacionada con la comunicación electrónica de información entre ellas.</a:t>
            </a:r>
          </a:p>
          <a:p>
            <a:pPr algn="just">
              <a:lnSpc>
                <a:spcPts val="1679"/>
              </a:lnSpc>
            </a:pPr>
          </a:p>
          <a:p>
            <a:pPr algn="just">
              <a:lnSpc>
                <a:spcPts val="1679"/>
              </a:lnSpc>
            </a:pPr>
            <a:r>
              <a:rPr lang="en-US" sz="1200" b="true">
                <a:solidFill>
                  <a:srgbClr val="000000"/>
                </a:solidFill>
                <a:latin typeface="Roboto Bold"/>
                <a:ea typeface="Roboto Bold"/>
                <a:cs typeface="Roboto Bold"/>
                <a:sym typeface="Roboto Bold"/>
              </a:rPr>
              <a:t>9)</a:t>
            </a:r>
            <a:r>
              <a:rPr lang="en-US" sz="1200">
                <a:solidFill>
                  <a:srgbClr val="000000"/>
                </a:solidFill>
                <a:latin typeface="Roboto"/>
                <a:ea typeface="Roboto"/>
                <a:cs typeface="Roboto"/>
                <a:sym typeface="Roboto"/>
              </a:rPr>
              <a:t> Los servicios incluidos en esta confirmación de términos de referencia, estarán regidos y serán interpretados de acuerdo con las leyes de la República Oriental del Uruguay, y por la presente se conviene y acepta irrevocablemente que los tribunales de la República Oriental del Uruguay tendrán competencia exclusiva para dirimir cualquier reclamo, diferencia o controversia, incluyendo sin limitaciones los reclamos de compensación o contrademandas emergentes o relacionados con dichos servicios. Cada parte renuncia irrevocablemente a formular cualquier reclamo de que la acción ha sido instaurada en una jurisdicción que no corresponde o que tales tribunales no son competentes. </a:t>
            </a:r>
          </a:p>
          <a:p>
            <a:pPr algn="just">
              <a:lnSpc>
                <a:spcPts val="1679"/>
              </a:lnSpc>
            </a:pPr>
          </a:p>
          <a:p>
            <a:pPr algn="just">
              <a:lnSpc>
                <a:spcPts val="1679"/>
              </a:lnSpc>
            </a:pPr>
            <a:r>
              <a:rPr lang="en-US" b="true" sz="1200">
                <a:solidFill>
                  <a:srgbClr val="000000"/>
                </a:solidFill>
                <a:latin typeface="Roboto Bold"/>
                <a:ea typeface="Roboto Bold"/>
                <a:cs typeface="Roboto Bold"/>
                <a:sym typeface="Roboto Bold"/>
              </a:rPr>
              <a:t>10) </a:t>
            </a:r>
            <a:r>
              <a:rPr lang="en-US" sz="1200">
                <a:solidFill>
                  <a:srgbClr val="000000"/>
                </a:solidFill>
                <a:latin typeface="Roboto"/>
                <a:ea typeface="Roboto"/>
                <a:cs typeface="Roboto"/>
                <a:sym typeface="Roboto"/>
              </a:rPr>
              <a:t>La información que MXA obtiene, accede y/o recibe del cliente -sea en forma oral, por escrito, o por cualquier otro medio- en el marco de la prestación de los servicios profesionales objeto de la propuesta de servicios adjunta, es considerada información confidencial, será utilizada exclusivamente para el cumplimiento de los servicios encargados por la presente, y no será divulgada a ningún tercero sin el previo consentimiento del cliente, salvo cuando sea exigido por la ley, u organismos judiciales o reguladores.</a:t>
            </a:r>
          </a:p>
        </p:txBody>
      </p:sp>
      <p:grpSp>
        <p:nvGrpSpPr>
          <p:cNvPr name="Group 5" id="5"/>
          <p:cNvGrpSpPr/>
          <p:nvPr/>
        </p:nvGrpSpPr>
        <p:grpSpPr>
          <a:xfrm rot="0">
            <a:off x="0" y="10278452"/>
            <a:ext cx="7560000" cy="413548"/>
            <a:chOff x="0" y="0"/>
            <a:chExt cx="8576120" cy="469132"/>
          </a:xfrm>
        </p:grpSpPr>
        <p:sp>
          <p:nvSpPr>
            <p:cNvPr name="Freeform 6" id="6"/>
            <p:cNvSpPr/>
            <p:nvPr/>
          </p:nvSpPr>
          <p:spPr>
            <a:xfrm flipH="false" flipV="false" rot="0">
              <a:off x="0" y="0"/>
              <a:ext cx="8576120" cy="469132"/>
            </a:xfrm>
            <a:custGeom>
              <a:avLst/>
              <a:gdLst/>
              <a:ahLst/>
              <a:cxnLst/>
              <a:rect r="r" b="b" t="t" l="l"/>
              <a:pathLst>
                <a:path h="469132" w="8576120">
                  <a:moveTo>
                    <a:pt x="0" y="0"/>
                  </a:moveTo>
                  <a:lnTo>
                    <a:pt x="8576120" y="0"/>
                  </a:lnTo>
                  <a:lnTo>
                    <a:pt x="8576120" y="469132"/>
                  </a:lnTo>
                  <a:lnTo>
                    <a:pt x="0" y="469132"/>
                  </a:lnTo>
                  <a:close/>
                </a:path>
              </a:pathLst>
            </a:custGeom>
            <a:solidFill>
              <a:srgbClr val="FAF6F1"/>
            </a:solidFill>
          </p:spPr>
        </p:sp>
        <p:sp>
          <p:nvSpPr>
            <p:cNvPr name="TextBox 7" id="7"/>
            <p:cNvSpPr txBox="true"/>
            <p:nvPr/>
          </p:nvSpPr>
          <p:spPr>
            <a:xfrm>
              <a:off x="0" y="-19050"/>
              <a:ext cx="8576120" cy="488182"/>
            </a:xfrm>
            <a:prstGeom prst="rect">
              <a:avLst/>
            </a:prstGeom>
          </p:spPr>
          <p:txBody>
            <a:bodyPr anchor="ctr" rtlCol="false" tIns="43486" lIns="43486" bIns="43486" rIns="43486"/>
            <a:lstStyle/>
            <a:p>
              <a:pPr algn="ctr">
                <a:lnSpc>
                  <a:spcPts val="599"/>
                </a:lnSpc>
              </a:pPr>
            </a:p>
          </p:txBody>
        </p:sp>
      </p:grpSp>
      <p:sp>
        <p:nvSpPr>
          <p:cNvPr name="TextBox 8" id="8"/>
          <p:cNvSpPr txBox="true"/>
          <p:nvPr/>
        </p:nvSpPr>
        <p:spPr>
          <a:xfrm rot="0">
            <a:off x="362278" y="10395606"/>
            <a:ext cx="911557" cy="181864"/>
          </a:xfrm>
          <a:prstGeom prst="rect">
            <a:avLst/>
          </a:prstGeom>
        </p:spPr>
        <p:txBody>
          <a:bodyPr anchor="t" rtlCol="false" tIns="0" lIns="0" bIns="0" rIns="0">
            <a:spAutoFit/>
          </a:bodyPr>
          <a:lstStyle/>
          <a:p>
            <a:pPr algn="ctr">
              <a:lnSpc>
                <a:spcPts val="1438"/>
              </a:lnSpc>
              <a:spcBef>
                <a:spcPct val="0"/>
              </a:spcBef>
            </a:pPr>
            <a:r>
              <a:rPr lang="en-US" sz="1027" spc="159">
                <a:solidFill>
                  <a:srgbClr val="282828"/>
                </a:solidFill>
                <a:latin typeface="Roboto"/>
                <a:ea typeface="Roboto"/>
                <a:cs typeface="Roboto"/>
                <a:sym typeface="Roboto"/>
              </a:rPr>
              <a:t>mxa.com.uy</a:t>
            </a:r>
          </a:p>
        </p:txBody>
      </p:sp>
      <p:sp>
        <p:nvSpPr>
          <p:cNvPr name="TextBox 9" id="9"/>
          <p:cNvSpPr txBox="true"/>
          <p:nvPr/>
        </p:nvSpPr>
        <p:spPr>
          <a:xfrm rot="0">
            <a:off x="3091548" y="10421983"/>
            <a:ext cx="1609773" cy="142261"/>
          </a:xfrm>
          <a:prstGeom prst="rect">
            <a:avLst/>
          </a:prstGeom>
        </p:spPr>
        <p:txBody>
          <a:bodyPr anchor="t" rtlCol="false" tIns="0" lIns="0" bIns="0" rIns="0">
            <a:spAutoFit/>
          </a:bodyPr>
          <a:lstStyle/>
          <a:p>
            <a:pPr algn="ctr">
              <a:lnSpc>
                <a:spcPts val="1198"/>
              </a:lnSpc>
            </a:pPr>
            <a:r>
              <a:rPr lang="en-US" sz="856" spc="56">
                <a:solidFill>
                  <a:srgbClr val="282828"/>
                </a:solidFill>
                <a:latin typeface="Roboto"/>
                <a:ea typeface="Roboto"/>
                <a:cs typeface="Roboto"/>
                <a:sym typeface="Roboto"/>
              </a:rPr>
              <a:t>Bvr. Gral. Artigas 417 piso 7     </a:t>
            </a:r>
          </a:p>
        </p:txBody>
      </p:sp>
      <p:sp>
        <p:nvSpPr>
          <p:cNvPr name="TextBox 10" id="10"/>
          <p:cNvSpPr txBox="true"/>
          <p:nvPr/>
        </p:nvSpPr>
        <p:spPr>
          <a:xfrm rot="0">
            <a:off x="5976829" y="10420171"/>
            <a:ext cx="1259290" cy="142261"/>
          </a:xfrm>
          <a:prstGeom prst="rect">
            <a:avLst/>
          </a:prstGeom>
        </p:spPr>
        <p:txBody>
          <a:bodyPr anchor="t" rtlCol="false" tIns="0" lIns="0" bIns="0" rIns="0">
            <a:spAutoFit/>
          </a:bodyPr>
          <a:lstStyle/>
          <a:p>
            <a:pPr algn="r">
              <a:lnSpc>
                <a:spcPts val="1198"/>
              </a:lnSpc>
            </a:pPr>
            <a:r>
              <a:rPr lang="en-US" sz="856" spc="56">
                <a:solidFill>
                  <a:srgbClr val="282828"/>
                </a:solidFill>
                <a:latin typeface="Roboto"/>
                <a:ea typeface="Roboto"/>
                <a:cs typeface="Roboto"/>
                <a:sym typeface="Roboto"/>
              </a:rPr>
              <a:t>  </a:t>
            </a:r>
            <a:r>
              <a:rPr lang="en-US" sz="856" spc="56">
                <a:solidFill>
                  <a:srgbClr val="282828"/>
                </a:solidFill>
                <a:latin typeface="Roboto"/>
                <a:ea typeface="Roboto"/>
                <a:cs typeface="Roboto"/>
                <a:sym typeface="Roboto"/>
              </a:rPr>
              <a:t>Montevideo, Uruguay</a:t>
            </a:r>
          </a:p>
        </p:txBody>
      </p:sp>
      <p:sp>
        <p:nvSpPr>
          <p:cNvPr name="TextBox 11" id="11"/>
          <p:cNvSpPr txBox="true"/>
          <p:nvPr/>
        </p:nvSpPr>
        <p:spPr>
          <a:xfrm rot="0">
            <a:off x="4872192" y="10420171"/>
            <a:ext cx="1033957" cy="142261"/>
          </a:xfrm>
          <a:prstGeom prst="rect">
            <a:avLst/>
          </a:prstGeom>
        </p:spPr>
        <p:txBody>
          <a:bodyPr anchor="t" rtlCol="false" tIns="0" lIns="0" bIns="0" rIns="0">
            <a:spAutoFit/>
          </a:bodyPr>
          <a:lstStyle/>
          <a:p>
            <a:pPr algn="ctr">
              <a:lnSpc>
                <a:spcPts val="1198"/>
              </a:lnSpc>
            </a:pPr>
            <a:r>
              <a:rPr lang="en-US" sz="856" spc="56">
                <a:solidFill>
                  <a:srgbClr val="282828"/>
                </a:solidFill>
                <a:latin typeface="Roboto"/>
                <a:ea typeface="Roboto"/>
                <a:cs typeface="Roboto"/>
                <a:sym typeface="Roboto"/>
              </a:rPr>
              <a:t>Punta Carretas</a:t>
            </a:r>
          </a:p>
        </p:txBody>
      </p:sp>
      <p:sp>
        <p:nvSpPr>
          <p:cNvPr name="TextBox 12" id="12"/>
          <p:cNvSpPr txBox="true"/>
          <p:nvPr/>
        </p:nvSpPr>
        <p:spPr>
          <a:xfrm rot="0">
            <a:off x="1672877" y="10420171"/>
            <a:ext cx="1131324" cy="144073"/>
          </a:xfrm>
          <a:prstGeom prst="rect">
            <a:avLst/>
          </a:prstGeom>
        </p:spPr>
        <p:txBody>
          <a:bodyPr anchor="t" rtlCol="false" tIns="0" lIns="0" bIns="0" rIns="0">
            <a:spAutoFit/>
          </a:bodyPr>
          <a:lstStyle/>
          <a:p>
            <a:pPr algn="ctr">
              <a:lnSpc>
                <a:spcPts val="1198"/>
              </a:lnSpc>
              <a:spcBef>
                <a:spcPct val="0"/>
              </a:spcBef>
            </a:pPr>
            <a:r>
              <a:rPr lang="en-US" sz="856" spc="132">
                <a:solidFill>
                  <a:srgbClr val="282828"/>
                </a:solidFill>
                <a:latin typeface="Roboto"/>
                <a:ea typeface="Roboto"/>
                <a:cs typeface="Roboto"/>
                <a:sym typeface="Roboto"/>
              </a:rPr>
              <a:t>(+598) 2712 6550</a:t>
            </a:r>
          </a:p>
        </p:txBody>
      </p:sp>
      <p:sp>
        <p:nvSpPr>
          <p:cNvPr name="TextBox 13" id="13"/>
          <p:cNvSpPr txBox="true"/>
          <p:nvPr/>
        </p:nvSpPr>
        <p:spPr>
          <a:xfrm rot="0">
            <a:off x="702927" y="2242850"/>
            <a:ext cx="5425484" cy="212090"/>
          </a:xfrm>
          <a:prstGeom prst="rect">
            <a:avLst/>
          </a:prstGeom>
        </p:spPr>
        <p:txBody>
          <a:bodyPr anchor="t" rtlCol="false" tIns="0" lIns="0" bIns="0" rIns="0">
            <a:spAutoFit/>
          </a:bodyPr>
          <a:lstStyle/>
          <a:p>
            <a:pPr algn="l">
              <a:lnSpc>
                <a:spcPts val="1689"/>
              </a:lnSpc>
            </a:pPr>
            <a:r>
              <a:rPr lang="en-US" b="true" sz="1299">
                <a:solidFill>
                  <a:srgbClr val="C9B8A7"/>
                </a:solidFill>
                <a:latin typeface="Ubuntu Bold"/>
                <a:ea typeface="Ubuntu Bold"/>
                <a:cs typeface="Ubuntu Bold"/>
                <a:sym typeface="Ubuntu Bold"/>
              </a:rPr>
              <a:t>Términos y condiciones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DAGp4BXm7nU</dc:identifier>
  <dcterms:modified xsi:type="dcterms:W3CDTF">2011-08-01T06:04:30Z</dcterms:modified>
  <cp:revision>1</cp:revision>
  <dc:title>Propuesta MXA Professional SERVICES- Asesoramiento en la obtención de un certificado de residencia fiscal.</dc:title>
</cp:coreProperties>
</file>